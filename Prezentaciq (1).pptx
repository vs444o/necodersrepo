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  <p:sldId id="266" r:id="rId12"/>
    <p:sldId id="268" r:id="rId13"/>
    <p:sldId id="267" r:id="rId14"/>
  </p:sldIdLst>
  <p:sldSz cx="12192000" cy="6858000"/>
  <p:notesSz cx="6858000" cy="12192000"/>
  <p:embeddedFontLst>
    <p:embeddedFont>
      <p:font typeface="Oranienbaum" panose="02000506080000020003" pitchFamily="2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574"/>
    <a:srgbClr val="A98C7B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F5E92-BF1E-4374-9E67-CCF2BA504F6F}" v="3" dt="2026-03-28T01:47:06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374" y="19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0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6F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6F7A">
                  <a:alpha val="95000"/>
                </a:srgbClr>
              </a:gs>
              <a:gs pos="50000">
                <a:srgbClr val="5A6F7A">
                  <a:alpha val="85000"/>
                </a:srgbClr>
              </a:gs>
              <a:gs pos="100000">
                <a:srgbClr val="A98C7B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4455200" y="1220153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405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Project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69462" y="1639253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HelpNow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83762" y="2706053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Подай ръка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87033" y="3696653"/>
            <a:ext cx="4419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Дигитален отговор на изолацията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96558" y="4182428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Платформа за взаимопомощ между поколенията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31048" y="5062538"/>
            <a:ext cx="1133475" cy="7620"/>
          </a:xfrm>
          <a:custGeom>
            <a:avLst/>
            <a:gdLst/>
            <a:ahLst/>
            <a:cxnLst/>
            <a:rect l="l" t="t" r="r" b="b"/>
            <a:pathLst>
              <a:path w="1133475" h="7620">
                <a:moveTo>
                  <a:pt x="0" y="0"/>
                </a:moveTo>
                <a:lnTo>
                  <a:pt x="1133475" y="0"/>
                </a:lnTo>
                <a:lnTo>
                  <a:pt x="11334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3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488186" y="5371148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Екип </a:t>
            </a:r>
            <a:r>
              <a:rPr lang="en-US" sz="135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Necoders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6" y="5111824"/>
            <a:ext cx="5663675" cy="122540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0" y="3768740"/>
            <a:ext cx="5663675" cy="122540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7" y="3722334"/>
            <a:ext cx="5663675" cy="122540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48" y="2390997"/>
            <a:ext cx="5663675" cy="122540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8" y="2348734"/>
            <a:ext cx="5663675" cy="122540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49" y="1015628"/>
            <a:ext cx="5663675" cy="122540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5" y="1018314"/>
            <a:ext cx="5663675" cy="122540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Съдържание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25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5" name="Text 3"/>
          <p:cNvSpPr/>
          <p:nvPr/>
        </p:nvSpPr>
        <p:spPr>
          <a:xfrm>
            <a:off x="323850" y="1257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3335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Проблемът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7040" y="1606517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Технологиите мълчат, когато има нужда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600" y="125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9" name="Text 7"/>
          <p:cNvSpPr/>
          <p:nvPr/>
        </p:nvSpPr>
        <p:spPr>
          <a:xfrm>
            <a:off x="6267450" y="1257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13335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Нашето решение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05650" y="1619250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Мрежа за солидарност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1000" y="26193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323850" y="261937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695575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Как работи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7040" y="2958594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Три прости стъпки за двете страни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4600" y="26193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7450" y="261937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2695575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Уникалност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2961435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 какво сме различни?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1000" y="3981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21" name="Text 19"/>
          <p:cNvSpPr/>
          <p:nvPr/>
        </p:nvSpPr>
        <p:spPr>
          <a:xfrm>
            <a:off x="323850" y="39814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05765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343400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Използвани инструменти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24600" y="3981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6267450" y="39814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405765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Екипът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5650" y="4343516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Разпределение на задачите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1000" y="5343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29" name="Text 27"/>
          <p:cNvSpPr/>
          <p:nvPr/>
        </p:nvSpPr>
        <p:spPr>
          <a:xfrm>
            <a:off x="323850" y="534352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5419725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Визия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7040" y="5676841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D3D3D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Бъдещето на HelpNow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Проблемът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Технологиите мълчат, когато има нужда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2111037"/>
            <a:ext cx="5543550" cy="1714500"/>
          </a:xfrm>
          <a:custGeom>
            <a:avLst/>
            <a:gdLst/>
            <a:ahLst/>
            <a:cxnLst/>
            <a:rect l="l" t="t" r="r" b="b"/>
            <a:pathLst>
              <a:path w="5543550" h="1714500">
                <a:moveTo>
                  <a:pt x="38100" y="0"/>
                </a:moveTo>
                <a:lnTo>
                  <a:pt x="5391148" y="0"/>
                </a:lnTo>
                <a:cubicBezTo>
                  <a:pt x="5475317" y="0"/>
                  <a:pt x="5543550" y="68233"/>
                  <a:pt x="5543550" y="152402"/>
                </a:cubicBezTo>
                <a:lnTo>
                  <a:pt x="5543550" y="1562098"/>
                </a:lnTo>
                <a:cubicBezTo>
                  <a:pt x="5543550" y="1646267"/>
                  <a:pt x="5475317" y="1714500"/>
                  <a:pt x="5391148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2111037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34910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1119188" y="2339637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Парадоксът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758678"/>
            <a:ext cx="51530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Днес можем да поръчаме храна за 20 минути или да накараме ИИ да пише песни, но когато става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въпрос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достъп до човешка помощ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технологиите мълчат.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4013597"/>
            <a:ext cx="5543550" cy="1990725"/>
          </a:xfrm>
          <a:custGeom>
            <a:avLst/>
            <a:gdLst/>
            <a:ahLst/>
            <a:cxnLst/>
            <a:rect l="l" t="t" r="r" b="b"/>
            <a:pathLst>
              <a:path w="5543550" h="1990725">
                <a:moveTo>
                  <a:pt x="38100" y="0"/>
                </a:moveTo>
                <a:lnTo>
                  <a:pt x="5391140" y="0"/>
                </a:lnTo>
                <a:cubicBezTo>
                  <a:pt x="5475314" y="0"/>
                  <a:pt x="5543550" y="68236"/>
                  <a:pt x="5543550" y="152410"/>
                </a:cubicBezTo>
                <a:lnTo>
                  <a:pt x="5543550" y="1838315"/>
                </a:lnTo>
                <a:cubicBezTo>
                  <a:pt x="5543550" y="1922489"/>
                  <a:pt x="5475314" y="1990725"/>
                  <a:pt x="5391140" y="1990725"/>
                </a:cubicBezTo>
                <a:lnTo>
                  <a:pt x="38100" y="1990725"/>
                </a:lnTo>
                <a:cubicBezTo>
                  <a:pt x="17072" y="1990725"/>
                  <a:pt x="0" y="1973653"/>
                  <a:pt x="0" y="1952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4013597"/>
            <a:ext cx="38100" cy="1990725"/>
          </a:xfrm>
          <a:custGeom>
            <a:avLst/>
            <a:gdLst/>
            <a:ahLst/>
            <a:cxnLst/>
            <a:rect l="l" t="t" r="r" b="b"/>
            <a:pathLst>
              <a:path w="38100" h="1990725">
                <a:moveTo>
                  <a:pt x="38100" y="0"/>
                </a:moveTo>
                <a:lnTo>
                  <a:pt x="38100" y="0"/>
                </a:lnTo>
                <a:lnTo>
                  <a:pt x="38100" y="1990725"/>
                </a:lnTo>
                <a:lnTo>
                  <a:pt x="38100" y="1990725"/>
                </a:lnTo>
                <a:cubicBezTo>
                  <a:pt x="17072" y="1990725"/>
                  <a:pt x="0" y="1973653"/>
                  <a:pt x="0" y="1952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081" y="425166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40742" y="-13897"/>
                </a:moveTo>
                <a:cubicBezTo>
                  <a:pt x="35496" y="-19143"/>
                  <a:pt x="27012" y="-19143"/>
                  <a:pt x="21822" y="-13897"/>
                </a:cubicBezTo>
                <a:cubicBezTo>
                  <a:pt x="16632" y="-8651"/>
                  <a:pt x="16576" y="-167"/>
                  <a:pt x="21766" y="5079"/>
                </a:cubicBezTo>
                <a:lnTo>
                  <a:pt x="316446" y="299758"/>
                </a:lnTo>
                <a:cubicBezTo>
                  <a:pt x="321692" y="305005"/>
                  <a:pt x="330175" y="305005"/>
                  <a:pt x="335366" y="299758"/>
                </a:cubicBezTo>
                <a:cubicBezTo>
                  <a:pt x="340556" y="294512"/>
                  <a:pt x="340612" y="286029"/>
                  <a:pt x="335366" y="280839"/>
                </a:cubicBezTo>
                <a:lnTo>
                  <a:pt x="179598" y="125016"/>
                </a:lnTo>
                <a:cubicBezTo>
                  <a:pt x="211187" y="124458"/>
                  <a:pt x="236637" y="98673"/>
                  <a:pt x="236637" y="66973"/>
                </a:cubicBezTo>
                <a:cubicBezTo>
                  <a:pt x="236637" y="34937"/>
                  <a:pt x="210629" y="8930"/>
                  <a:pt x="178594" y="8930"/>
                </a:cubicBezTo>
                <a:cubicBezTo>
                  <a:pt x="146893" y="8930"/>
                  <a:pt x="121109" y="34379"/>
                  <a:pt x="120551" y="65968"/>
                </a:cubicBezTo>
                <a:lnTo>
                  <a:pt x="40742" y="-13897"/>
                </a:lnTo>
                <a:close/>
                <a:moveTo>
                  <a:pt x="285750" y="160734"/>
                </a:moveTo>
                <a:cubicBezTo>
                  <a:pt x="276151" y="160734"/>
                  <a:pt x="266942" y="162632"/>
                  <a:pt x="258570" y="166092"/>
                </a:cubicBezTo>
                <a:lnTo>
                  <a:pt x="353448" y="260970"/>
                </a:lnTo>
                <a:cubicBezTo>
                  <a:pt x="355792" y="257956"/>
                  <a:pt x="357188" y="254161"/>
                  <a:pt x="357188" y="250031"/>
                </a:cubicBezTo>
                <a:lnTo>
                  <a:pt x="357188" y="232172"/>
                </a:lnTo>
                <a:cubicBezTo>
                  <a:pt x="357188" y="192714"/>
                  <a:pt x="325208" y="160734"/>
                  <a:pt x="285750" y="160734"/>
                </a:cubicBezTo>
                <a:close/>
                <a:moveTo>
                  <a:pt x="33431" y="54527"/>
                </a:moveTo>
                <a:cubicBezTo>
                  <a:pt x="21431" y="61503"/>
                  <a:pt x="13395" y="74451"/>
                  <a:pt x="13395" y="89297"/>
                </a:cubicBezTo>
                <a:cubicBezTo>
                  <a:pt x="13395" y="111509"/>
                  <a:pt x="31366" y="129480"/>
                  <a:pt x="53578" y="129480"/>
                </a:cubicBezTo>
                <a:cubicBezTo>
                  <a:pt x="68424" y="129480"/>
                  <a:pt x="81372" y="121444"/>
                  <a:pt x="88348" y="109444"/>
                </a:cubicBezTo>
                <a:lnTo>
                  <a:pt x="33431" y="54527"/>
                </a:lnTo>
                <a:close/>
                <a:moveTo>
                  <a:pt x="139638" y="160734"/>
                </a:moveTo>
                <a:cubicBezTo>
                  <a:pt x="109835" y="175189"/>
                  <a:pt x="89297" y="205773"/>
                  <a:pt x="89297" y="241102"/>
                </a:cubicBezTo>
                <a:lnTo>
                  <a:pt x="89297" y="250031"/>
                </a:lnTo>
                <a:cubicBezTo>
                  <a:pt x="89297" y="259910"/>
                  <a:pt x="97278" y="267891"/>
                  <a:pt x="107156" y="267891"/>
                </a:cubicBezTo>
                <a:lnTo>
                  <a:pt x="246794" y="267891"/>
                </a:lnTo>
                <a:lnTo>
                  <a:pt x="139638" y="160734"/>
                </a:lnTo>
                <a:close/>
                <a:moveTo>
                  <a:pt x="71438" y="160734"/>
                </a:moveTo>
                <a:cubicBezTo>
                  <a:pt x="31979" y="160734"/>
                  <a:pt x="0" y="192714"/>
                  <a:pt x="0" y="232172"/>
                </a:cubicBez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66247" y="267891"/>
                </a:lnTo>
                <a:cubicBezTo>
                  <a:pt x="63847" y="262421"/>
                  <a:pt x="62508" y="256394"/>
                  <a:pt x="62508" y="250031"/>
                </a:cubicBezTo>
                <a:lnTo>
                  <a:pt x="62508" y="241102"/>
                </a:lnTo>
                <a:cubicBezTo>
                  <a:pt x="62508" y="211410"/>
                  <a:pt x="73670" y="184286"/>
                  <a:pt x="92032" y="163748"/>
                </a:cubicBezTo>
                <a:cubicBezTo>
                  <a:pt x="85502" y="161795"/>
                  <a:pt x="78581" y="160734"/>
                  <a:pt x="71438" y="160734"/>
                </a:cubicBezTo>
                <a:close/>
                <a:moveTo>
                  <a:pt x="343793" y="89297"/>
                </a:moveTo>
                <a:cubicBezTo>
                  <a:pt x="343793" y="67119"/>
                  <a:pt x="325787" y="49113"/>
                  <a:pt x="303609" y="49113"/>
                </a:cubicBezTo>
                <a:cubicBezTo>
                  <a:pt x="281431" y="49113"/>
                  <a:pt x="263426" y="67119"/>
                  <a:pt x="263426" y="89297"/>
                </a:cubicBezTo>
                <a:cubicBezTo>
                  <a:pt x="263426" y="111475"/>
                  <a:pt x="281431" y="129480"/>
                  <a:pt x="303609" y="129480"/>
                </a:cubicBezTo>
                <a:cubicBezTo>
                  <a:pt x="325787" y="129480"/>
                  <a:pt x="343793" y="111475"/>
                  <a:pt x="343793" y="89297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3" name="Text 11"/>
          <p:cNvSpPr/>
          <p:nvPr/>
        </p:nvSpPr>
        <p:spPr>
          <a:xfrm>
            <a:off x="1119188" y="4242197"/>
            <a:ext cx="117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Реалността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4661238"/>
            <a:ext cx="51530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Милиони възрастни хора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нуждаят от помощ, но нямат лесен начин да я получат. Изолацията е реален проблем, а съществуващите платформи не адресират нуждата от човешка връзка.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53150" y="2087289"/>
            <a:ext cx="5562600" cy="4000500"/>
          </a:xfrm>
          <a:custGeom>
            <a:avLst/>
            <a:gdLst/>
            <a:ahLst/>
            <a:cxnLst/>
            <a:rect l="l" t="t" r="r" b="b"/>
            <a:pathLst>
              <a:path w="5562600" h="4000500">
                <a:moveTo>
                  <a:pt x="152419" y="0"/>
                </a:moveTo>
                <a:lnTo>
                  <a:pt x="5410181" y="0"/>
                </a:lnTo>
                <a:cubicBezTo>
                  <a:pt x="5494360" y="0"/>
                  <a:pt x="5562600" y="68240"/>
                  <a:pt x="5562600" y="152419"/>
                </a:cubicBezTo>
                <a:lnTo>
                  <a:pt x="5562600" y="3848081"/>
                </a:lnTo>
                <a:cubicBezTo>
                  <a:pt x="5562600" y="3932260"/>
                  <a:pt x="5494360" y="4000500"/>
                  <a:pt x="5410181" y="4000500"/>
                </a:cubicBezTo>
                <a:lnTo>
                  <a:pt x="152419" y="4000500"/>
                </a:lnTo>
                <a:cubicBezTo>
                  <a:pt x="68240" y="4000500"/>
                  <a:pt x="0" y="3932260"/>
                  <a:pt x="0" y="3848081"/>
                </a:cubicBezTo>
                <a:lnTo>
                  <a:pt x="0" y="152419"/>
                </a:lnTo>
                <a:cubicBezTo>
                  <a:pt x="0" y="68297"/>
                  <a:pt x="68297" y="0"/>
                  <a:pt x="15241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F7A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7" name="Text 14"/>
          <p:cNvSpPr/>
          <p:nvPr/>
        </p:nvSpPr>
        <p:spPr>
          <a:xfrm>
            <a:off x="6477000" y="4900613"/>
            <a:ext cx="52006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"Представете си 80-годишна баба в отдалечено село - крушката в </a:t>
            </a:r>
            <a:r>
              <a:rPr lang="en-US" sz="15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коридора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 </a:t>
            </a:r>
            <a:r>
              <a:rPr lang="en-US" sz="15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изг</a:t>
            </a:r>
            <a:r>
              <a:rPr lang="bg-BG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</a:t>
            </a:r>
            <a:r>
              <a:rPr lang="en-US" sz="15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ря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или тя просто има нужда от някого, с когото да изпие чай."</a:t>
            </a: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754" y="2491978"/>
            <a:ext cx="2265142" cy="19651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Нашето решение: HelpNow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Мрежа за солидарност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951495"/>
            <a:ext cx="6677025" cy="1390650"/>
          </a:xfrm>
          <a:custGeom>
            <a:avLst/>
            <a:gdLst/>
            <a:ahLst/>
            <a:cxnLst/>
            <a:rect l="l" t="t" r="r" b="b"/>
            <a:pathLst>
              <a:path w="6677025" h="1390650">
                <a:moveTo>
                  <a:pt x="114298" y="0"/>
                </a:moveTo>
                <a:lnTo>
                  <a:pt x="6562727" y="0"/>
                </a:lnTo>
                <a:cubicBezTo>
                  <a:pt x="6625852" y="0"/>
                  <a:pt x="6677025" y="51173"/>
                  <a:pt x="6677025" y="114298"/>
                </a:cubicBezTo>
                <a:lnTo>
                  <a:pt x="6677025" y="1276352"/>
                </a:lnTo>
                <a:cubicBezTo>
                  <a:pt x="6677025" y="1339477"/>
                  <a:pt x="6625852" y="1390650"/>
                  <a:pt x="656272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21800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Shape 5"/>
          <p:cNvSpPr/>
          <p:nvPr/>
        </p:nvSpPr>
        <p:spPr>
          <a:xfrm>
            <a:off x="747713" y="233249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23753"/>
                </a:moveTo>
                <a:lnTo>
                  <a:pt x="68000" y="81617"/>
                </a:lnTo>
                <a:cubicBezTo>
                  <a:pt x="65946" y="83894"/>
                  <a:pt x="66035" y="87422"/>
                  <a:pt x="68223" y="89609"/>
                </a:cubicBezTo>
                <a:cubicBezTo>
                  <a:pt x="81841" y="103227"/>
                  <a:pt x="103942" y="103227"/>
                  <a:pt x="117559" y="89609"/>
                </a:cubicBezTo>
                <a:lnTo>
                  <a:pt x="131758" y="75411"/>
                </a:lnTo>
                <a:cubicBezTo>
                  <a:pt x="133633" y="73536"/>
                  <a:pt x="135999" y="72509"/>
                  <a:pt x="138410" y="72330"/>
                </a:cubicBezTo>
                <a:cubicBezTo>
                  <a:pt x="141446" y="72063"/>
                  <a:pt x="144572" y="73089"/>
                  <a:pt x="146893" y="75411"/>
                </a:cubicBezTo>
                <a:lnTo>
                  <a:pt x="225743" y="153591"/>
                </a:lnTo>
                <a:lnTo>
                  <a:pt x="257175" y="128588"/>
                </a:lnTo>
                <a:lnTo>
                  <a:pt x="257175" y="0"/>
                </a:lnTo>
                <a:lnTo>
                  <a:pt x="207169" y="28575"/>
                </a:lnTo>
                <a:lnTo>
                  <a:pt x="196542" y="21476"/>
                </a:lnTo>
                <a:cubicBezTo>
                  <a:pt x="189488" y="16788"/>
                  <a:pt x="181228" y="14288"/>
                  <a:pt x="172745" y="14288"/>
                </a:cubicBezTo>
                <a:lnTo>
                  <a:pt x="141312" y="14288"/>
                </a:lnTo>
                <a:cubicBezTo>
                  <a:pt x="140821" y="14288"/>
                  <a:pt x="140285" y="14288"/>
                  <a:pt x="139794" y="14332"/>
                </a:cubicBezTo>
                <a:cubicBezTo>
                  <a:pt x="132249" y="14734"/>
                  <a:pt x="125150" y="18127"/>
                  <a:pt x="120060" y="23753"/>
                </a:cubicBezTo>
                <a:close/>
                <a:moveTo>
                  <a:pt x="52060" y="67285"/>
                </a:moveTo>
                <a:lnTo>
                  <a:pt x="99745" y="14288"/>
                </a:lnTo>
                <a:lnTo>
                  <a:pt x="82064" y="14288"/>
                </a:lnTo>
                <a:cubicBezTo>
                  <a:pt x="70678" y="14288"/>
                  <a:pt x="59784" y="18797"/>
                  <a:pt x="51748" y="26834"/>
                </a:cubicBezTo>
                <a:lnTo>
                  <a:pt x="0" y="85725"/>
                </a:lnTo>
                <a:lnTo>
                  <a:pt x="0" y="242888"/>
                </a:lnTo>
                <a:lnTo>
                  <a:pt x="64294" y="182166"/>
                </a:lnTo>
                <a:lnTo>
                  <a:pt x="69830" y="186764"/>
                </a:lnTo>
                <a:cubicBezTo>
                  <a:pt x="80099" y="195337"/>
                  <a:pt x="93047" y="200025"/>
                  <a:pt x="106397" y="200025"/>
                </a:cubicBezTo>
                <a:lnTo>
                  <a:pt x="113407" y="200025"/>
                </a:lnTo>
                <a:lnTo>
                  <a:pt x="110282" y="196900"/>
                </a:lnTo>
                <a:cubicBezTo>
                  <a:pt x="106085" y="192703"/>
                  <a:pt x="106085" y="185916"/>
                  <a:pt x="110282" y="181764"/>
                </a:cubicBezTo>
                <a:cubicBezTo>
                  <a:pt x="114479" y="177611"/>
                  <a:pt x="121265" y="177567"/>
                  <a:pt x="125417" y="181764"/>
                </a:cubicBezTo>
                <a:lnTo>
                  <a:pt x="143723" y="200070"/>
                </a:lnTo>
                <a:lnTo>
                  <a:pt x="147742" y="200070"/>
                </a:lnTo>
                <a:cubicBezTo>
                  <a:pt x="156270" y="200070"/>
                  <a:pt x="164619" y="198150"/>
                  <a:pt x="172209" y="194578"/>
                </a:cubicBezTo>
                <a:lnTo>
                  <a:pt x="160288" y="182612"/>
                </a:lnTo>
                <a:cubicBezTo>
                  <a:pt x="156091" y="178415"/>
                  <a:pt x="156091" y="171629"/>
                  <a:pt x="160288" y="167476"/>
                </a:cubicBezTo>
                <a:cubicBezTo>
                  <a:pt x="164485" y="163324"/>
                  <a:pt x="171271" y="163279"/>
                  <a:pt x="175424" y="167476"/>
                </a:cubicBezTo>
                <a:lnTo>
                  <a:pt x="189711" y="181764"/>
                </a:lnTo>
                <a:lnTo>
                  <a:pt x="197525" y="173950"/>
                </a:lnTo>
                <a:cubicBezTo>
                  <a:pt x="201498" y="169977"/>
                  <a:pt x="202659" y="164217"/>
                  <a:pt x="200918" y="159172"/>
                </a:cubicBezTo>
                <a:lnTo>
                  <a:pt x="139348" y="98093"/>
                </a:lnTo>
                <a:lnTo>
                  <a:pt x="132695" y="104745"/>
                </a:lnTo>
                <a:cubicBezTo>
                  <a:pt x="110683" y="126757"/>
                  <a:pt x="75054" y="126757"/>
                  <a:pt x="53042" y="104745"/>
                </a:cubicBezTo>
                <a:cubicBezTo>
                  <a:pt x="42773" y="94476"/>
                  <a:pt x="42371" y="78001"/>
                  <a:pt x="52060" y="672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2180095"/>
            <a:ext cx="564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Не просто платформа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2561034"/>
            <a:ext cx="56197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HelpNow не е просто платформа за поръчки на ремонти или пазаруване –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ние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сме</a:t>
            </a: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мрежа за свързаност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537347"/>
            <a:ext cx="6677025" cy="1390650"/>
          </a:xfrm>
          <a:custGeom>
            <a:avLst/>
            <a:gdLst/>
            <a:ahLst/>
            <a:cxnLst/>
            <a:rect l="l" t="t" r="r" b="b"/>
            <a:pathLst>
              <a:path w="6677025" h="1390650">
                <a:moveTo>
                  <a:pt x="114298" y="0"/>
                </a:moveTo>
                <a:lnTo>
                  <a:pt x="6562727" y="0"/>
                </a:lnTo>
                <a:cubicBezTo>
                  <a:pt x="6625852" y="0"/>
                  <a:pt x="6677025" y="51173"/>
                  <a:pt x="6677025" y="114298"/>
                </a:cubicBezTo>
                <a:lnTo>
                  <a:pt x="6677025" y="1276352"/>
                </a:lnTo>
                <a:cubicBezTo>
                  <a:pt x="6677025" y="1339477"/>
                  <a:pt x="6625852" y="1390650"/>
                  <a:pt x="656272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37659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39183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3765947"/>
            <a:ext cx="564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Инвестирай време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5400" y="4146889"/>
            <a:ext cx="56197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Създадохме инструмент, с който можете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инвестирате свободните си 2 часа 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някой друг.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5123201"/>
            <a:ext cx="6677025" cy="1227849"/>
          </a:xfrm>
          <a:custGeom>
            <a:avLst/>
            <a:gdLst/>
            <a:ahLst/>
            <a:cxnLst/>
            <a:rect l="l" t="t" r="r" b="b"/>
            <a:pathLst>
              <a:path w="6677025" h="1227849">
                <a:moveTo>
                  <a:pt x="114295" y="0"/>
                </a:moveTo>
                <a:lnTo>
                  <a:pt x="6562730" y="0"/>
                </a:lnTo>
                <a:cubicBezTo>
                  <a:pt x="6625811" y="0"/>
                  <a:pt x="6677025" y="56427"/>
                  <a:pt x="6677025" y="125928"/>
                </a:cubicBezTo>
                <a:lnTo>
                  <a:pt x="6677025" y="1101920"/>
                </a:lnTo>
                <a:cubicBezTo>
                  <a:pt x="6677025" y="1171422"/>
                  <a:pt x="6625811" y="1227849"/>
                  <a:pt x="6562730" y="1227849"/>
                </a:cubicBezTo>
                <a:lnTo>
                  <a:pt x="114295" y="1227849"/>
                </a:lnTo>
                <a:cubicBezTo>
                  <a:pt x="51214" y="1227849"/>
                  <a:pt x="0" y="1171422"/>
                  <a:pt x="0" y="1101920"/>
                </a:cubicBezTo>
                <a:lnTo>
                  <a:pt x="0" y="125928"/>
                </a:lnTo>
                <a:cubicBezTo>
                  <a:pt x="0" y="56427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" y="53518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5042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5313701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Два модела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" y="5747089"/>
            <a:ext cx="5495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Може да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го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направите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допълнителен приход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или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5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като</a:t>
            </a: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доброволец</a:t>
            </a:r>
            <a:r>
              <a:rPr lang="en-US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920" y="2952750"/>
            <a:ext cx="4448175" cy="2286000"/>
          </a:xfrm>
          <a:custGeom>
            <a:avLst/>
            <a:gdLst/>
            <a:ahLst/>
            <a:cxnLst/>
            <a:rect l="l" t="t" r="r" b="b"/>
            <a:pathLst>
              <a:path w="4448175" h="2286000">
                <a:moveTo>
                  <a:pt x="152408" y="0"/>
                </a:moveTo>
                <a:lnTo>
                  <a:pt x="4295767" y="0"/>
                </a:lnTo>
                <a:cubicBezTo>
                  <a:pt x="4379940" y="0"/>
                  <a:pt x="4448175" y="68235"/>
                  <a:pt x="4448175" y="152408"/>
                </a:cubicBezTo>
                <a:lnTo>
                  <a:pt x="4448175" y="2133592"/>
                </a:lnTo>
                <a:cubicBezTo>
                  <a:pt x="4448175" y="2217765"/>
                  <a:pt x="4379940" y="2286000"/>
                  <a:pt x="4295767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A6F7A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94282" y="3257550"/>
            <a:ext cx="3981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Резултатът е един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94295" y="3848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770" y="3829050"/>
            <a:ext cx="22452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По-достъпна помощ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94295" y="4267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8065770" y="4248150"/>
            <a:ext cx="2440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По-свързано общество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94295" y="468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8065770" y="4667250"/>
            <a:ext cx="2107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Борба с изолацията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Как работи: За възрастните хора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Три прости стъпки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714500"/>
            <a:ext cx="3657600" cy="4038600"/>
          </a:xfrm>
          <a:custGeom>
            <a:avLst/>
            <a:gdLst/>
            <a:ahLst/>
            <a:cxnLst/>
            <a:rect l="l" t="t" r="r" b="b"/>
            <a:pathLst>
              <a:path w="3657600" h="40386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886188"/>
                </a:lnTo>
                <a:cubicBezTo>
                  <a:pt x="3657600" y="3970363"/>
                  <a:pt x="3589363" y="4038600"/>
                  <a:pt x="3505188" y="4038600"/>
                </a:cubicBezTo>
                <a:lnTo>
                  <a:pt x="152412" y="4038600"/>
                </a:lnTo>
                <a:cubicBezTo>
                  <a:pt x="68237" y="4038600"/>
                  <a:pt x="0" y="3970363"/>
                  <a:pt x="0" y="3886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50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Text 5"/>
          <p:cNvSpPr/>
          <p:nvPr/>
        </p:nvSpPr>
        <p:spPr>
          <a:xfrm>
            <a:off x="1833563" y="1943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27051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Заявяване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9600" y="3124142"/>
            <a:ext cx="32766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Влизате в платформата и с няколко клика описвате задачата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4914900"/>
            <a:ext cx="3200400" cy="609600"/>
          </a:xfrm>
          <a:custGeom>
            <a:avLst/>
            <a:gdLst/>
            <a:ahLst/>
            <a:cxnLst/>
            <a:rect l="l" t="t" r="r" b="b"/>
            <a:pathLst>
              <a:path w="3200400" h="609600">
                <a:moveTo>
                  <a:pt x="76200" y="0"/>
                </a:moveTo>
                <a:lnTo>
                  <a:pt x="3124200" y="0"/>
                </a:lnTo>
                <a:cubicBezTo>
                  <a:pt x="3166256" y="0"/>
                  <a:pt x="3200400" y="34144"/>
                  <a:pt x="3200400" y="76200"/>
                </a:cubicBezTo>
                <a:lnTo>
                  <a:pt x="3200400" y="533400"/>
                </a:lnTo>
                <a:cubicBezTo>
                  <a:pt x="3200400" y="575456"/>
                  <a:pt x="3166256" y="609600"/>
                  <a:pt x="31242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1ED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5029200"/>
            <a:ext cx="3038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Пример: "Пазаруване на хранителни продукти до 5 кг"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7200" y="1714500"/>
            <a:ext cx="3657600" cy="4038600"/>
          </a:xfrm>
          <a:custGeom>
            <a:avLst/>
            <a:gdLst/>
            <a:ahLst/>
            <a:cxnLst/>
            <a:rect l="l" t="t" r="r" b="b"/>
            <a:pathLst>
              <a:path w="3657600" h="40386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886188"/>
                </a:lnTo>
                <a:cubicBezTo>
                  <a:pt x="3657600" y="3970363"/>
                  <a:pt x="3589363" y="4038600"/>
                  <a:pt x="3505188" y="4038600"/>
                </a:cubicBezTo>
                <a:lnTo>
                  <a:pt x="152412" y="4038600"/>
                </a:lnTo>
                <a:cubicBezTo>
                  <a:pt x="68237" y="4038600"/>
                  <a:pt x="0" y="3970363"/>
                  <a:pt x="0" y="3886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912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719763" y="1943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8650" y="2683311"/>
            <a:ext cx="3314700" cy="348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rgbClr val="A98C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Условия</a:t>
            </a:r>
            <a:endParaRPr lang="en-US" sz="3600" dirty="0">
              <a:solidFill>
                <a:srgbClr val="A98C7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24043" y="3305175"/>
            <a:ext cx="16201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Избирате модела: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75743" y="3943292"/>
            <a:ext cx="248050" cy="2286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5221363" y="3924242"/>
            <a:ext cx="2022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Конкретно заплащане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5742" y="4279540"/>
            <a:ext cx="216519" cy="241221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221363" y="4279540"/>
            <a:ext cx="1994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"Търси се доброволец"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3400" y="1714500"/>
            <a:ext cx="3657600" cy="4038600"/>
          </a:xfrm>
          <a:custGeom>
            <a:avLst/>
            <a:gdLst/>
            <a:ahLst/>
            <a:cxnLst/>
            <a:rect l="l" t="t" r="r" b="b"/>
            <a:pathLst>
              <a:path w="3657600" h="40386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886188"/>
                </a:lnTo>
                <a:cubicBezTo>
                  <a:pt x="3657600" y="3970363"/>
                  <a:pt x="3589363" y="4038600"/>
                  <a:pt x="3505188" y="4038600"/>
                </a:cubicBezTo>
                <a:lnTo>
                  <a:pt x="152412" y="4038600"/>
                </a:lnTo>
                <a:cubicBezTo>
                  <a:pt x="68237" y="4038600"/>
                  <a:pt x="0" y="3970363"/>
                  <a:pt x="0" y="3886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774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9605963" y="1943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4850" y="27051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2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Публикуване</a:t>
            </a:r>
            <a:endParaRPr lang="en-US" sz="3200" dirty="0">
              <a:solidFill>
                <a:srgbClr val="D4A574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82000" y="3124142"/>
            <a:ext cx="3276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Задачата се появява на дигиталната карта в реално време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5105400"/>
            <a:ext cx="3200400" cy="419100"/>
          </a:xfrm>
          <a:custGeom>
            <a:avLst/>
            <a:gdLst/>
            <a:ahLst/>
            <a:cxnLst/>
            <a:rect l="l" t="t" r="r" b="b"/>
            <a:pathLst>
              <a:path w="3200400" h="419100">
                <a:moveTo>
                  <a:pt x="76201" y="0"/>
                </a:moveTo>
                <a:lnTo>
                  <a:pt x="3124199" y="0"/>
                </a:lnTo>
                <a:cubicBezTo>
                  <a:pt x="3166284" y="0"/>
                  <a:pt x="3200400" y="34116"/>
                  <a:pt x="3200400" y="76201"/>
                </a:cubicBezTo>
                <a:lnTo>
                  <a:pt x="3200400" y="342899"/>
                </a:lnTo>
                <a:cubicBezTo>
                  <a:pt x="3200400" y="384984"/>
                  <a:pt x="3166284" y="419100"/>
                  <a:pt x="31241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A6F7A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96300" y="5219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Видима за всички помощници в района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29" name="Shape 27"/>
          <p:cNvSpPr/>
          <p:nvPr/>
        </p:nvSpPr>
        <p:spPr>
          <a:xfrm>
            <a:off x="590550" y="6076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" y="6026586"/>
            <a:ext cx="57854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Пример: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Внук в София организира помощ за баба си в село Гинци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bg-BG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Как работи: За помощниците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Три прости стъпки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714500"/>
            <a:ext cx="3657600" cy="4038600"/>
          </a:xfrm>
          <a:custGeom>
            <a:avLst/>
            <a:gdLst/>
            <a:ahLst/>
            <a:cxnLst/>
            <a:rect l="l" t="t" r="r" b="b"/>
            <a:pathLst>
              <a:path w="3657600" h="40386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886188"/>
                </a:lnTo>
                <a:cubicBezTo>
                  <a:pt x="3657600" y="3970363"/>
                  <a:pt x="3589363" y="4038600"/>
                  <a:pt x="3505188" y="4038600"/>
                </a:cubicBezTo>
                <a:lnTo>
                  <a:pt x="152412" y="4038600"/>
                </a:lnTo>
                <a:cubicBezTo>
                  <a:pt x="68237" y="4038600"/>
                  <a:pt x="0" y="3970363"/>
                  <a:pt x="0" y="3886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050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Text 5"/>
          <p:cNvSpPr/>
          <p:nvPr/>
        </p:nvSpPr>
        <p:spPr>
          <a:xfrm>
            <a:off x="1833563" y="1943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27051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2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Откриване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9600" y="312414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Отваряте</a:t>
            </a: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платформата</a:t>
            </a: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виждате </a:t>
            </a:r>
            <a:r>
              <a:rPr lang="en-US" sz="16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активни</a:t>
            </a: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задачи</a:t>
            </a:r>
            <a:r>
              <a:rPr lang="bg-BG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които можете да поемете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4762500"/>
            <a:ext cx="3200400" cy="342900"/>
          </a:xfrm>
          <a:custGeom>
            <a:avLst/>
            <a:gdLst/>
            <a:ahLst/>
            <a:cxnLst/>
            <a:rect l="l" t="t" r="r" b="b"/>
            <a:pathLst>
              <a:path w="3200400" h="342900">
                <a:moveTo>
                  <a:pt x="76199" y="0"/>
                </a:moveTo>
                <a:lnTo>
                  <a:pt x="3124201" y="0"/>
                </a:lnTo>
                <a:cubicBezTo>
                  <a:pt x="3166284" y="0"/>
                  <a:pt x="3200400" y="34116"/>
                  <a:pt x="3200400" y="76199"/>
                </a:cubicBezTo>
                <a:lnTo>
                  <a:pt x="3200400" y="266701"/>
                </a:lnTo>
                <a:cubicBezTo>
                  <a:pt x="3200400" y="308784"/>
                  <a:pt x="3166284" y="342900"/>
                  <a:pt x="31242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1E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48577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71450" y="14288"/>
                </a:moveTo>
                <a:cubicBezTo>
                  <a:pt x="171450" y="10984"/>
                  <a:pt x="169753" y="7918"/>
                  <a:pt x="166926" y="6191"/>
                </a:cubicBezTo>
                <a:cubicBezTo>
                  <a:pt x="164098" y="4465"/>
                  <a:pt x="160615" y="4286"/>
                  <a:pt x="157669" y="5775"/>
                </a:cubicBezTo>
                <a:lnTo>
                  <a:pt x="123081" y="23068"/>
                </a:lnTo>
                <a:lnTo>
                  <a:pt x="69681" y="5239"/>
                </a:lnTo>
                <a:cubicBezTo>
                  <a:pt x="67270" y="4435"/>
                  <a:pt x="64681" y="4614"/>
                  <a:pt x="62419" y="5745"/>
                </a:cubicBezTo>
                <a:lnTo>
                  <a:pt x="24319" y="24795"/>
                </a:lnTo>
                <a:cubicBezTo>
                  <a:pt x="21074" y="26432"/>
                  <a:pt x="19050" y="29736"/>
                  <a:pt x="19050" y="33338"/>
                </a:cubicBezTo>
                <a:lnTo>
                  <a:pt x="19050" y="138113"/>
                </a:lnTo>
                <a:cubicBezTo>
                  <a:pt x="19050" y="141416"/>
                  <a:pt x="20747" y="144482"/>
                  <a:pt x="23574" y="146209"/>
                </a:cubicBezTo>
                <a:cubicBezTo>
                  <a:pt x="26402" y="147935"/>
                  <a:pt x="29885" y="148114"/>
                  <a:pt x="32831" y="146625"/>
                </a:cubicBezTo>
                <a:lnTo>
                  <a:pt x="67389" y="129332"/>
                </a:lnTo>
                <a:lnTo>
                  <a:pt x="118973" y="146536"/>
                </a:lnTo>
                <a:cubicBezTo>
                  <a:pt x="117693" y="144631"/>
                  <a:pt x="116443" y="142637"/>
                  <a:pt x="115223" y="140613"/>
                </a:cubicBezTo>
                <a:cubicBezTo>
                  <a:pt x="111949" y="135166"/>
                  <a:pt x="108704" y="128915"/>
                  <a:pt x="106293" y="122218"/>
                </a:cubicBezTo>
                <a:lnTo>
                  <a:pt x="76170" y="112187"/>
                </a:lnTo>
                <a:lnTo>
                  <a:pt x="76170" y="27503"/>
                </a:lnTo>
                <a:lnTo>
                  <a:pt x="114270" y="40213"/>
                </a:lnTo>
                <a:lnTo>
                  <a:pt x="114270" y="69771"/>
                </a:lnTo>
                <a:cubicBezTo>
                  <a:pt x="123498" y="59115"/>
                  <a:pt x="137190" y="52387"/>
                  <a:pt x="152370" y="52387"/>
                </a:cubicBezTo>
                <a:cubicBezTo>
                  <a:pt x="159097" y="52387"/>
                  <a:pt x="165527" y="53697"/>
                  <a:pt x="171420" y="56108"/>
                </a:cubicBezTo>
                <a:lnTo>
                  <a:pt x="171450" y="14288"/>
                </a:lnTo>
                <a:close/>
                <a:moveTo>
                  <a:pt x="152400" y="66675"/>
                </a:moveTo>
                <a:cubicBezTo>
                  <a:pt x="132665" y="66675"/>
                  <a:pt x="116681" y="82391"/>
                  <a:pt x="116681" y="101769"/>
                </a:cubicBezTo>
                <a:cubicBezTo>
                  <a:pt x="116681" y="122277"/>
                  <a:pt x="135761" y="146536"/>
                  <a:pt x="146030" y="158115"/>
                </a:cubicBezTo>
                <a:cubicBezTo>
                  <a:pt x="149483" y="161985"/>
                  <a:pt x="155347" y="161985"/>
                  <a:pt x="158800" y="158115"/>
                </a:cubicBezTo>
                <a:cubicBezTo>
                  <a:pt x="169069" y="146536"/>
                  <a:pt x="188149" y="122277"/>
                  <a:pt x="188149" y="101769"/>
                </a:cubicBezTo>
                <a:cubicBezTo>
                  <a:pt x="188149" y="82391"/>
                  <a:pt x="172164" y="66675"/>
                  <a:pt x="152430" y="66675"/>
                </a:cubicBezTo>
                <a:close/>
                <a:moveTo>
                  <a:pt x="140494" y="102394"/>
                </a:moveTo>
                <a:cubicBezTo>
                  <a:pt x="140494" y="95823"/>
                  <a:pt x="145829" y="90488"/>
                  <a:pt x="152400" y="90488"/>
                </a:cubicBezTo>
                <a:cubicBezTo>
                  <a:pt x="158971" y="90488"/>
                  <a:pt x="164306" y="95823"/>
                  <a:pt x="164306" y="102394"/>
                </a:cubicBezTo>
                <a:cubicBezTo>
                  <a:pt x="164306" y="108965"/>
                  <a:pt x="158971" y="114300"/>
                  <a:pt x="152400" y="114300"/>
                </a:cubicBezTo>
                <a:cubicBezTo>
                  <a:pt x="145829" y="114300"/>
                  <a:pt x="140494" y="108965"/>
                  <a:pt x="140494" y="102394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8387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 картата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5181600"/>
            <a:ext cx="3200400" cy="342900"/>
          </a:xfrm>
          <a:custGeom>
            <a:avLst/>
            <a:gdLst/>
            <a:ahLst/>
            <a:cxnLst/>
            <a:rect l="l" t="t" r="r" b="b"/>
            <a:pathLst>
              <a:path w="3200400" h="342900">
                <a:moveTo>
                  <a:pt x="76199" y="0"/>
                </a:moveTo>
                <a:lnTo>
                  <a:pt x="3124201" y="0"/>
                </a:lnTo>
                <a:cubicBezTo>
                  <a:pt x="3166284" y="0"/>
                  <a:pt x="3200400" y="34116"/>
                  <a:pt x="3200400" y="76199"/>
                </a:cubicBezTo>
                <a:lnTo>
                  <a:pt x="3200400" y="266701"/>
                </a:lnTo>
                <a:cubicBezTo>
                  <a:pt x="3200400" y="308784"/>
                  <a:pt x="3166284" y="342900"/>
                  <a:pt x="31242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5F1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850" y="5276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906" y="14288"/>
                </a:moveTo>
                <a:cubicBezTo>
                  <a:pt x="7947" y="14288"/>
                  <a:pt x="4763" y="17472"/>
                  <a:pt x="4763" y="21431"/>
                </a:cubicBezTo>
                <a:lnTo>
                  <a:pt x="4763" y="35719"/>
                </a:lnTo>
                <a:cubicBezTo>
                  <a:pt x="4763" y="39678"/>
                  <a:pt x="7947" y="42863"/>
                  <a:pt x="11906" y="42863"/>
                </a:cubicBezTo>
                <a:lnTo>
                  <a:pt x="26194" y="42863"/>
                </a:lnTo>
                <a:cubicBezTo>
                  <a:pt x="30153" y="42863"/>
                  <a:pt x="33338" y="39678"/>
                  <a:pt x="33338" y="35719"/>
                </a:cubicBezTo>
                <a:lnTo>
                  <a:pt x="33338" y="21431"/>
                </a:lnTo>
                <a:cubicBezTo>
                  <a:pt x="33338" y="17472"/>
                  <a:pt x="30153" y="14288"/>
                  <a:pt x="26194" y="14288"/>
                </a:cubicBezTo>
                <a:lnTo>
                  <a:pt x="11906" y="14288"/>
                </a:lnTo>
                <a:close/>
                <a:moveTo>
                  <a:pt x="57150" y="19050"/>
                </a:moveTo>
                <a:cubicBezTo>
                  <a:pt x="51881" y="19050"/>
                  <a:pt x="47625" y="23306"/>
                  <a:pt x="47625" y="28575"/>
                </a:cubicBezTo>
                <a:cubicBezTo>
                  <a:pt x="47625" y="33844"/>
                  <a:pt x="51881" y="38100"/>
                  <a:pt x="57150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57150" y="19050"/>
                </a:lnTo>
                <a:close/>
                <a:moveTo>
                  <a:pt x="57150" y="66675"/>
                </a:moveTo>
                <a:cubicBezTo>
                  <a:pt x="51881" y="66675"/>
                  <a:pt x="47625" y="70931"/>
                  <a:pt x="47625" y="76200"/>
                </a:cubicBezTo>
                <a:cubicBezTo>
                  <a:pt x="47625" y="81469"/>
                  <a:pt x="51881" y="85725"/>
                  <a:pt x="57150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57150" y="66675"/>
                </a:lnTo>
                <a:close/>
                <a:moveTo>
                  <a:pt x="57150" y="114300"/>
                </a:moveTo>
                <a:cubicBezTo>
                  <a:pt x="51881" y="114300"/>
                  <a:pt x="47625" y="118556"/>
                  <a:pt x="47625" y="123825"/>
                </a:cubicBezTo>
                <a:cubicBezTo>
                  <a:pt x="47625" y="129094"/>
                  <a:pt x="51881" y="133350"/>
                  <a:pt x="57150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57150" y="114300"/>
                </a:lnTo>
                <a:close/>
                <a:moveTo>
                  <a:pt x="4763" y="69056"/>
                </a:moveTo>
                <a:lnTo>
                  <a:pt x="4763" y="83344"/>
                </a:lnTo>
                <a:cubicBezTo>
                  <a:pt x="4763" y="87303"/>
                  <a:pt x="7947" y="90488"/>
                  <a:pt x="11906" y="90488"/>
                </a:cubicBezTo>
                <a:lnTo>
                  <a:pt x="26194" y="90488"/>
                </a:lnTo>
                <a:cubicBezTo>
                  <a:pt x="30153" y="90488"/>
                  <a:pt x="33338" y="87303"/>
                  <a:pt x="33338" y="83344"/>
                </a:cubicBezTo>
                <a:lnTo>
                  <a:pt x="33338" y="69056"/>
                </a:lnTo>
                <a:cubicBezTo>
                  <a:pt x="33338" y="65097"/>
                  <a:pt x="30153" y="61912"/>
                  <a:pt x="26194" y="61912"/>
                </a:cubicBezTo>
                <a:lnTo>
                  <a:pt x="11906" y="61912"/>
                </a:lnTo>
                <a:cubicBezTo>
                  <a:pt x="7947" y="61912"/>
                  <a:pt x="4763" y="65097"/>
                  <a:pt x="4763" y="69056"/>
                </a:cubicBezTo>
                <a:close/>
                <a:moveTo>
                  <a:pt x="11906" y="109537"/>
                </a:moveTo>
                <a:cubicBezTo>
                  <a:pt x="7947" y="109537"/>
                  <a:pt x="4763" y="112722"/>
                  <a:pt x="4763" y="116681"/>
                </a:cubicBezTo>
                <a:lnTo>
                  <a:pt x="4763" y="130969"/>
                </a:lnTo>
                <a:cubicBezTo>
                  <a:pt x="4763" y="134928"/>
                  <a:pt x="7947" y="138113"/>
                  <a:pt x="11906" y="138113"/>
                </a:cubicBezTo>
                <a:lnTo>
                  <a:pt x="26194" y="138113"/>
                </a:lnTo>
                <a:cubicBezTo>
                  <a:pt x="30153" y="138113"/>
                  <a:pt x="33338" y="134928"/>
                  <a:pt x="33338" y="130969"/>
                </a:cubicBezTo>
                <a:lnTo>
                  <a:pt x="33338" y="116681"/>
                </a:lnTo>
                <a:cubicBezTo>
                  <a:pt x="33338" y="112722"/>
                  <a:pt x="30153" y="109537"/>
                  <a:pt x="26194" y="109537"/>
                </a:cubicBezTo>
                <a:lnTo>
                  <a:pt x="11906" y="109537"/>
                </a:ln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2578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списък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7200" y="1714500"/>
            <a:ext cx="3657600" cy="4038600"/>
          </a:xfrm>
          <a:custGeom>
            <a:avLst/>
            <a:gdLst/>
            <a:ahLst/>
            <a:cxnLst/>
            <a:rect l="l" t="t" r="r" b="b"/>
            <a:pathLst>
              <a:path w="3657600" h="40386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886188"/>
                </a:lnTo>
                <a:cubicBezTo>
                  <a:pt x="3657600" y="3970363"/>
                  <a:pt x="3589363" y="4038600"/>
                  <a:pt x="3505188" y="4038600"/>
                </a:cubicBezTo>
                <a:lnTo>
                  <a:pt x="152412" y="4038600"/>
                </a:lnTo>
                <a:cubicBezTo>
                  <a:pt x="68237" y="4038600"/>
                  <a:pt x="0" y="3970363"/>
                  <a:pt x="0" y="3886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12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8" name="Text 16"/>
          <p:cNvSpPr/>
          <p:nvPr/>
        </p:nvSpPr>
        <p:spPr>
          <a:xfrm>
            <a:off x="5719763" y="1943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8650" y="27051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200" b="1" dirty="0">
                <a:solidFill>
                  <a:srgbClr val="A98C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Приемане</a:t>
            </a:r>
            <a:endParaRPr lang="en-US" sz="3200" dirty="0">
              <a:solidFill>
                <a:srgbClr val="A98C7B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05325" y="2971740"/>
            <a:ext cx="3276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Ако времето и условията ви устройват, приемате задачата с един бутон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05325" y="5084445"/>
            <a:ext cx="3200400" cy="419100"/>
          </a:xfrm>
          <a:custGeom>
            <a:avLst/>
            <a:gdLst/>
            <a:ahLst/>
            <a:cxnLst/>
            <a:rect l="l" t="t" r="r" b="b"/>
            <a:pathLst>
              <a:path w="3200400" h="419100">
                <a:moveTo>
                  <a:pt x="76201" y="0"/>
                </a:moveTo>
                <a:lnTo>
                  <a:pt x="3124199" y="0"/>
                </a:lnTo>
                <a:cubicBezTo>
                  <a:pt x="3166284" y="0"/>
                  <a:pt x="3200400" y="34116"/>
                  <a:pt x="3200400" y="76201"/>
                </a:cubicBezTo>
                <a:lnTo>
                  <a:pt x="3200400" y="342899"/>
                </a:lnTo>
                <a:cubicBezTo>
                  <a:pt x="3200400" y="384984"/>
                  <a:pt x="3166284" y="419100"/>
                  <a:pt x="31241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A98C7B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10100" y="5219700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Системата ви свързва в защитен чат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3400" y="1714500"/>
            <a:ext cx="3657600" cy="4038600"/>
          </a:xfrm>
          <a:custGeom>
            <a:avLst/>
            <a:gdLst/>
            <a:ahLst/>
            <a:cxnLst/>
            <a:rect l="l" t="t" r="r" b="b"/>
            <a:pathLst>
              <a:path w="3657600" h="40386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886188"/>
                </a:lnTo>
                <a:cubicBezTo>
                  <a:pt x="3657600" y="3970363"/>
                  <a:pt x="3589363" y="4038600"/>
                  <a:pt x="3505188" y="4038600"/>
                </a:cubicBezTo>
                <a:lnTo>
                  <a:pt x="152412" y="4038600"/>
                </a:lnTo>
                <a:cubicBezTo>
                  <a:pt x="68237" y="4038600"/>
                  <a:pt x="0" y="3970363"/>
                  <a:pt x="0" y="3886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774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9605963" y="19431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24850" y="27051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2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Изпълнение</a:t>
            </a:r>
            <a:endParaRPr lang="en-US" sz="3200" dirty="0">
              <a:solidFill>
                <a:srgbClr val="D4A574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82000" y="3009840"/>
            <a:ext cx="3276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След приключване, задачата се </a:t>
            </a:r>
            <a:r>
              <a:rPr lang="en-US" sz="16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маркира</a:t>
            </a:r>
            <a:r>
              <a:rPr lang="en-US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6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като приключена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30109" y="51076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24897"/>
                </a:moveTo>
                <a:lnTo>
                  <a:pt x="0" y="32593"/>
                </a:lnTo>
                <a:cubicBezTo>
                  <a:pt x="0" y="25688"/>
                  <a:pt x="7174" y="21104"/>
                  <a:pt x="13781" y="23068"/>
                </a:cubicBezTo>
                <a:cubicBezTo>
                  <a:pt x="39886" y="30867"/>
                  <a:pt x="58341" y="24705"/>
                  <a:pt x="76914" y="18514"/>
                </a:cubicBezTo>
                <a:cubicBezTo>
                  <a:pt x="96113" y="12115"/>
                  <a:pt x="115431" y="5685"/>
                  <a:pt x="143381" y="14615"/>
                </a:cubicBezTo>
                <a:cubicBezTo>
                  <a:pt x="148888" y="16371"/>
                  <a:pt x="152400" y="21699"/>
                  <a:pt x="152400" y="27503"/>
                </a:cubicBezTo>
                <a:lnTo>
                  <a:pt x="152400" y="119807"/>
                </a:lnTo>
                <a:cubicBezTo>
                  <a:pt x="152400" y="126712"/>
                  <a:pt x="145226" y="131296"/>
                  <a:pt x="138648" y="129332"/>
                </a:cubicBezTo>
                <a:cubicBezTo>
                  <a:pt x="112544" y="121533"/>
                  <a:pt x="94059" y="127695"/>
                  <a:pt x="75515" y="133886"/>
                </a:cubicBezTo>
                <a:cubicBezTo>
                  <a:pt x="56317" y="140285"/>
                  <a:pt x="36999" y="146715"/>
                  <a:pt x="9049" y="137785"/>
                </a:cubicBezTo>
                <a:cubicBezTo>
                  <a:pt x="3542" y="136029"/>
                  <a:pt x="30" y="130701"/>
                  <a:pt x="30" y="124897"/>
                </a:cubicBezTo>
                <a:close/>
                <a:moveTo>
                  <a:pt x="100013" y="76200"/>
                </a:moveTo>
                <a:cubicBezTo>
                  <a:pt x="100013" y="60424"/>
                  <a:pt x="89356" y="47625"/>
                  <a:pt x="76200" y="47625"/>
                </a:cubicBezTo>
                <a:cubicBezTo>
                  <a:pt x="63044" y="47625"/>
                  <a:pt x="52388" y="60424"/>
                  <a:pt x="52388" y="76200"/>
                </a:cubicBezTo>
                <a:cubicBezTo>
                  <a:pt x="52388" y="91976"/>
                  <a:pt x="63044" y="104775"/>
                  <a:pt x="76200" y="104775"/>
                </a:cubicBezTo>
                <a:cubicBezTo>
                  <a:pt x="89356" y="104775"/>
                  <a:pt x="100013" y="91976"/>
                  <a:pt x="100013" y="76200"/>
                </a:cubicBezTo>
                <a:close/>
                <a:moveTo>
                  <a:pt x="35719" y="123111"/>
                </a:moveTo>
                <a:cubicBezTo>
                  <a:pt x="37028" y="123111"/>
                  <a:pt x="38070" y="121980"/>
                  <a:pt x="37862" y="120700"/>
                </a:cubicBezTo>
                <a:cubicBezTo>
                  <a:pt x="36493" y="112425"/>
                  <a:pt x="29825" y="105966"/>
                  <a:pt x="21431" y="104924"/>
                </a:cubicBezTo>
                <a:cubicBezTo>
                  <a:pt x="20122" y="104775"/>
                  <a:pt x="19050" y="105847"/>
                  <a:pt x="19050" y="107156"/>
                </a:cubicBezTo>
                <a:lnTo>
                  <a:pt x="19050" y="119033"/>
                </a:lnTo>
                <a:cubicBezTo>
                  <a:pt x="19050" y="120104"/>
                  <a:pt x="19764" y="121057"/>
                  <a:pt x="20836" y="121325"/>
                </a:cubicBezTo>
                <a:cubicBezTo>
                  <a:pt x="26164" y="122575"/>
                  <a:pt x="31046" y="123140"/>
                  <a:pt x="35719" y="123140"/>
                </a:cubicBezTo>
                <a:close/>
                <a:moveTo>
                  <a:pt x="130522" y="107900"/>
                </a:moveTo>
                <a:cubicBezTo>
                  <a:pt x="132011" y="108139"/>
                  <a:pt x="133350" y="107007"/>
                  <a:pt x="133350" y="105519"/>
                </a:cubicBezTo>
                <a:lnTo>
                  <a:pt x="133350" y="92839"/>
                </a:lnTo>
                <a:cubicBezTo>
                  <a:pt x="133350" y="91529"/>
                  <a:pt x="132278" y="90428"/>
                  <a:pt x="130969" y="90607"/>
                </a:cubicBezTo>
                <a:cubicBezTo>
                  <a:pt x="123468" y="91529"/>
                  <a:pt x="117306" y="96828"/>
                  <a:pt x="115133" y="103882"/>
                </a:cubicBezTo>
                <a:cubicBezTo>
                  <a:pt x="114717" y="105281"/>
                  <a:pt x="115818" y="106591"/>
                  <a:pt x="117277" y="106620"/>
                </a:cubicBezTo>
                <a:cubicBezTo>
                  <a:pt x="121503" y="106740"/>
                  <a:pt x="125909" y="107126"/>
                  <a:pt x="130493" y="107900"/>
                </a:cubicBezTo>
                <a:close/>
                <a:moveTo>
                  <a:pt x="133350" y="45244"/>
                </a:moveTo>
                <a:lnTo>
                  <a:pt x="133350" y="33367"/>
                </a:lnTo>
                <a:cubicBezTo>
                  <a:pt x="133350" y="32296"/>
                  <a:pt x="132606" y="31343"/>
                  <a:pt x="131564" y="31075"/>
                </a:cubicBezTo>
                <a:cubicBezTo>
                  <a:pt x="126236" y="29825"/>
                  <a:pt x="121354" y="29260"/>
                  <a:pt x="116681" y="29260"/>
                </a:cubicBezTo>
                <a:cubicBezTo>
                  <a:pt x="115372" y="29260"/>
                  <a:pt x="114330" y="30391"/>
                  <a:pt x="114538" y="31671"/>
                </a:cubicBezTo>
                <a:cubicBezTo>
                  <a:pt x="115907" y="39945"/>
                  <a:pt x="122575" y="46405"/>
                  <a:pt x="130969" y="47446"/>
                </a:cubicBezTo>
                <a:cubicBezTo>
                  <a:pt x="132278" y="47595"/>
                  <a:pt x="133350" y="46524"/>
                  <a:pt x="133350" y="45214"/>
                </a:cubicBezTo>
                <a:close/>
                <a:moveTo>
                  <a:pt x="37267" y="48488"/>
                </a:moveTo>
                <a:cubicBezTo>
                  <a:pt x="37683" y="47089"/>
                  <a:pt x="36582" y="45780"/>
                  <a:pt x="35123" y="45750"/>
                </a:cubicBezTo>
                <a:cubicBezTo>
                  <a:pt x="30897" y="45631"/>
                  <a:pt x="26491" y="45244"/>
                  <a:pt x="21908" y="44470"/>
                </a:cubicBezTo>
                <a:cubicBezTo>
                  <a:pt x="20419" y="44232"/>
                  <a:pt x="19080" y="45363"/>
                  <a:pt x="19080" y="46851"/>
                </a:cubicBezTo>
                <a:lnTo>
                  <a:pt x="19050" y="59531"/>
                </a:lnTo>
                <a:cubicBezTo>
                  <a:pt x="19050" y="60841"/>
                  <a:pt x="20122" y="61942"/>
                  <a:pt x="21431" y="61764"/>
                </a:cubicBezTo>
                <a:cubicBezTo>
                  <a:pt x="28932" y="60841"/>
                  <a:pt x="35094" y="55543"/>
                  <a:pt x="37267" y="48488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8696809" y="5086290"/>
            <a:ext cx="20898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Получавате уговорената сума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30109" y="5343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31" name="Text 29"/>
          <p:cNvSpPr/>
          <p:nvPr/>
        </p:nvSpPr>
        <p:spPr>
          <a:xfrm>
            <a:off x="8696809" y="5314950"/>
            <a:ext cx="1818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Или просто "Благодаря!"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457200"/>
                </a:lnTo>
                <a:cubicBezTo>
                  <a:pt x="11430000" y="520284"/>
                  <a:pt x="11378784" y="571500"/>
                  <a:pt x="113157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33" name="Shape 31"/>
          <p:cNvSpPr/>
          <p:nvPr/>
        </p:nvSpPr>
        <p:spPr>
          <a:xfrm>
            <a:off x="561975" y="6076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4" name="Text 32"/>
          <p:cNvSpPr/>
          <p:nvPr/>
        </p:nvSpPr>
        <p:spPr>
          <a:xfrm>
            <a:off x="971550" y="6057900"/>
            <a:ext cx="5796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Изграждаме сигурна общност, базирана на репутация и доверие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Използвани технологии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Технологичен стек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400300"/>
            <a:ext cx="5600700" cy="1714500"/>
          </a:xfrm>
          <a:custGeom>
            <a:avLst/>
            <a:gdLst/>
            <a:ahLst/>
            <a:cxnLst/>
            <a:rect l="l" t="t" r="r" b="b"/>
            <a:pathLst>
              <a:path w="5600700" h="1714500">
                <a:moveTo>
                  <a:pt x="152402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1562098"/>
                </a:lnTo>
                <a:cubicBezTo>
                  <a:pt x="5600700" y="1646267"/>
                  <a:pt x="5532467" y="1714500"/>
                  <a:pt x="5448298" y="1714500"/>
                </a:cubicBezTo>
                <a:lnTo>
                  <a:pt x="152402" y="1714500"/>
                </a:lnTo>
                <a:cubicBezTo>
                  <a:pt x="68233" y="1714500"/>
                  <a:pt x="0" y="1646267"/>
                  <a:pt x="0" y="1562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2628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Shape 5"/>
          <p:cNvSpPr/>
          <p:nvPr/>
        </p:nvSpPr>
        <p:spPr>
          <a:xfrm>
            <a:off x="809625" y="27908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6877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2008" y="89241"/>
                </a:moveTo>
                <a:lnTo>
                  <a:pt x="69428" y="89241"/>
                </a:lnTo>
                <a:lnTo>
                  <a:pt x="71717" y="116811"/>
                </a:lnTo>
                <a:lnTo>
                  <a:pt x="169720" y="116811"/>
                </a:lnTo>
                <a:lnTo>
                  <a:pt x="162130" y="199634"/>
                </a:lnTo>
                <a:lnTo>
                  <a:pt x="107491" y="214703"/>
                </a:lnTo>
                <a:lnTo>
                  <a:pt x="107491" y="214871"/>
                </a:lnTo>
                <a:lnTo>
                  <a:pt x="106877" y="214871"/>
                </a:lnTo>
                <a:lnTo>
                  <a:pt x="51792" y="199634"/>
                </a:lnTo>
                <a:lnTo>
                  <a:pt x="48444" y="157330"/>
                </a:lnTo>
                <a:lnTo>
                  <a:pt x="75065" y="157330"/>
                </a:lnTo>
                <a:lnTo>
                  <a:pt x="77019" y="178594"/>
                </a:lnTo>
                <a:lnTo>
                  <a:pt x="106877" y="186686"/>
                </a:lnTo>
                <a:lnTo>
                  <a:pt x="136847" y="178594"/>
                </a:lnTo>
                <a:lnTo>
                  <a:pt x="140196" y="143880"/>
                </a:lnTo>
                <a:lnTo>
                  <a:pt x="47048" y="143880"/>
                </a:lnTo>
                <a:lnTo>
                  <a:pt x="39905" y="62619"/>
                </a:lnTo>
                <a:lnTo>
                  <a:pt x="174464" y="62619"/>
                </a:lnTo>
                <a:lnTo>
                  <a:pt x="172008" y="892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67000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97174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HTML, CSS, JavaScript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33909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 създаване на интуитивен и лесен за използване интерфейс, специално проектиран за възрастни хора.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4267200"/>
            <a:ext cx="5600700" cy="1714500"/>
          </a:xfrm>
          <a:custGeom>
            <a:avLst/>
            <a:gdLst/>
            <a:ahLst/>
            <a:cxnLst/>
            <a:rect l="l" t="t" r="r" b="b"/>
            <a:pathLst>
              <a:path w="5600700" h="1714500">
                <a:moveTo>
                  <a:pt x="152402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1562098"/>
                </a:lnTo>
                <a:cubicBezTo>
                  <a:pt x="5600700" y="1646267"/>
                  <a:pt x="5532467" y="1714500"/>
                  <a:pt x="5448298" y="1714500"/>
                </a:cubicBezTo>
                <a:lnTo>
                  <a:pt x="152402" y="1714500"/>
                </a:lnTo>
                <a:cubicBezTo>
                  <a:pt x="68233" y="1714500"/>
                  <a:pt x="0" y="1646267"/>
                  <a:pt x="0" y="1562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" y="449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766" y="46577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533900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3864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с Django framework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52578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 сигурна и мащабируема сървърна архитектура, обработка на заявки и управление на данни.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2390775"/>
            <a:ext cx="5571969" cy="1677337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152406" y="0"/>
                </a:moveTo>
                <a:lnTo>
                  <a:pt x="5448294" y="0"/>
                </a:lnTo>
                <a:cubicBezTo>
                  <a:pt x="5532409" y="0"/>
                  <a:pt x="5600700" y="68291"/>
                  <a:pt x="5600700" y="152406"/>
                </a:cubicBezTo>
                <a:lnTo>
                  <a:pt x="5600700" y="1314444"/>
                </a:lnTo>
                <a:cubicBezTo>
                  <a:pt x="5600700" y="1398559"/>
                  <a:pt x="5532409" y="1466850"/>
                  <a:pt x="5448294" y="1466850"/>
                </a:cubicBezTo>
                <a:lnTo>
                  <a:pt x="152406" y="1466850"/>
                </a:lnTo>
                <a:cubicBezTo>
                  <a:pt x="68291" y="1466850"/>
                  <a:pt x="0" y="1398559"/>
                  <a:pt x="0" y="13144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8900" y="25812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1066" y="27432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200899" y="2619375"/>
            <a:ext cx="19470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bg-BG" b="1" dirty="0">
                <a:solidFill>
                  <a:srgbClr val="5A6F7A"/>
                </a:solidFill>
                <a:latin typeface="Oranienbaum" pitchFamily="34" charset="0"/>
              </a:rPr>
              <a:t>Изкуствен интелект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00899" y="2952750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bg-BG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Изкуствен интелект 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0102" y="3448050"/>
            <a:ext cx="521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bg-BG" sz="1200" dirty="0">
                <a:solidFill>
                  <a:srgbClr val="3D3D3D"/>
                </a:solidFill>
              </a:rPr>
              <a:t>Интеграция на ИИ за </a:t>
            </a:r>
            <a:r>
              <a:rPr lang="en-US" sz="1200" dirty="0">
                <a:solidFill>
                  <a:srgbClr val="3D3D3D"/>
                </a:solidFill>
              </a:rPr>
              <a:t>speech to text</a:t>
            </a:r>
            <a:r>
              <a:rPr lang="bg-BG" sz="1200" dirty="0">
                <a:solidFill>
                  <a:srgbClr val="3D3D3D"/>
                </a:solidFill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4267200"/>
            <a:ext cx="5600700" cy="1714500"/>
          </a:xfrm>
          <a:custGeom>
            <a:avLst/>
            <a:gdLst/>
            <a:ahLst/>
            <a:cxnLst/>
            <a:rect l="l" t="t" r="r" b="b"/>
            <a:pathLst>
              <a:path w="5600700" h="1714500">
                <a:moveTo>
                  <a:pt x="152402" y="0"/>
                </a:moveTo>
                <a:lnTo>
                  <a:pt x="5448298" y="0"/>
                </a:lnTo>
                <a:cubicBezTo>
                  <a:pt x="5532467" y="0"/>
                  <a:pt x="5600700" y="68233"/>
                  <a:pt x="5600700" y="152402"/>
                </a:cubicBezTo>
                <a:lnTo>
                  <a:pt x="5600700" y="1562098"/>
                </a:lnTo>
                <a:cubicBezTo>
                  <a:pt x="5600700" y="1646267"/>
                  <a:pt x="5532467" y="1714500"/>
                  <a:pt x="5448298" y="1714500"/>
                </a:cubicBezTo>
                <a:lnTo>
                  <a:pt x="152402" y="1714500"/>
                </a:lnTo>
                <a:cubicBezTo>
                  <a:pt x="68233" y="1714500"/>
                  <a:pt x="0" y="1646267"/>
                  <a:pt x="0" y="1562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38899" y="44957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67487" y="465766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21469" y="26789"/>
                </a:moveTo>
                <a:cubicBezTo>
                  <a:pt x="321469" y="20594"/>
                  <a:pt x="318288" y="14846"/>
                  <a:pt x="312986" y="11609"/>
                </a:cubicBezTo>
                <a:cubicBezTo>
                  <a:pt x="307684" y="8372"/>
                  <a:pt x="301154" y="8037"/>
                  <a:pt x="295628" y="10827"/>
                </a:cubicBezTo>
                <a:lnTo>
                  <a:pt x="230777" y="43253"/>
                </a:lnTo>
                <a:lnTo>
                  <a:pt x="130652" y="9823"/>
                </a:lnTo>
                <a:cubicBezTo>
                  <a:pt x="126132" y="8316"/>
                  <a:pt x="121276" y="8651"/>
                  <a:pt x="117035" y="10771"/>
                </a:cubicBezTo>
                <a:lnTo>
                  <a:pt x="45597" y="46490"/>
                </a:lnTo>
                <a:cubicBezTo>
                  <a:pt x="39514" y="49560"/>
                  <a:pt x="35719" y="55755"/>
                  <a:pt x="35719" y="62508"/>
                </a:cubicBezTo>
                <a:lnTo>
                  <a:pt x="35719" y="258961"/>
                </a:lnTo>
                <a:cubicBezTo>
                  <a:pt x="35719" y="265156"/>
                  <a:pt x="38900" y="270904"/>
                  <a:pt x="44202" y="274141"/>
                </a:cubicBezTo>
                <a:cubicBezTo>
                  <a:pt x="49504" y="277378"/>
                  <a:pt x="56034" y="277713"/>
                  <a:pt x="61559" y="274923"/>
                </a:cubicBezTo>
                <a:lnTo>
                  <a:pt x="126355" y="242497"/>
                </a:lnTo>
                <a:lnTo>
                  <a:pt x="223075" y="274755"/>
                </a:lnTo>
                <a:cubicBezTo>
                  <a:pt x="220675" y="271183"/>
                  <a:pt x="218331" y="267444"/>
                  <a:pt x="216043" y="263649"/>
                </a:cubicBezTo>
                <a:cubicBezTo>
                  <a:pt x="209903" y="253436"/>
                  <a:pt x="203820" y="241715"/>
                  <a:pt x="199299" y="229158"/>
                </a:cubicBezTo>
                <a:lnTo>
                  <a:pt x="142819" y="210350"/>
                </a:lnTo>
                <a:lnTo>
                  <a:pt x="142819" y="51569"/>
                </a:lnTo>
                <a:lnTo>
                  <a:pt x="214257" y="75400"/>
                </a:lnTo>
                <a:lnTo>
                  <a:pt x="214257" y="130820"/>
                </a:lnTo>
                <a:cubicBezTo>
                  <a:pt x="231558" y="110840"/>
                  <a:pt x="257231" y="98227"/>
                  <a:pt x="285694" y="98227"/>
                </a:cubicBezTo>
                <a:cubicBezTo>
                  <a:pt x="298307" y="98227"/>
                  <a:pt x="310362" y="100682"/>
                  <a:pt x="321413" y="105203"/>
                </a:cubicBezTo>
                <a:lnTo>
                  <a:pt x="321469" y="26789"/>
                </a:lnTo>
                <a:close/>
                <a:moveTo>
                  <a:pt x="285750" y="125016"/>
                </a:moveTo>
                <a:cubicBezTo>
                  <a:pt x="248748" y="125016"/>
                  <a:pt x="218777" y="154484"/>
                  <a:pt x="218777" y="190816"/>
                </a:cubicBezTo>
                <a:cubicBezTo>
                  <a:pt x="218777" y="229270"/>
                  <a:pt x="254552" y="274755"/>
                  <a:pt x="273807" y="296466"/>
                </a:cubicBezTo>
                <a:cubicBezTo>
                  <a:pt x="280281" y="303721"/>
                  <a:pt x="291275" y="303721"/>
                  <a:pt x="297749" y="296466"/>
                </a:cubicBezTo>
                <a:cubicBezTo>
                  <a:pt x="317004" y="274755"/>
                  <a:pt x="352778" y="229270"/>
                  <a:pt x="352778" y="190816"/>
                </a:cubicBezTo>
                <a:cubicBezTo>
                  <a:pt x="352778" y="154484"/>
                  <a:pt x="322808" y="125016"/>
                  <a:pt x="285806" y="125016"/>
                </a:cubicBezTo>
                <a:close/>
                <a:moveTo>
                  <a:pt x="263426" y="191988"/>
                </a:moveTo>
                <a:cubicBezTo>
                  <a:pt x="263426" y="179667"/>
                  <a:pt x="273429" y="169664"/>
                  <a:pt x="285750" y="169664"/>
                </a:cubicBezTo>
                <a:cubicBezTo>
                  <a:pt x="298071" y="169664"/>
                  <a:pt x="308074" y="179667"/>
                  <a:pt x="308074" y="191988"/>
                </a:cubicBezTo>
                <a:cubicBezTo>
                  <a:pt x="308074" y="204309"/>
                  <a:pt x="298071" y="214313"/>
                  <a:pt x="285750" y="214313"/>
                </a:cubicBezTo>
                <a:cubicBezTo>
                  <a:pt x="273429" y="214313"/>
                  <a:pt x="263426" y="204309"/>
                  <a:pt x="263426" y="1919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00899" y="453384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Карти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899" y="4838580"/>
            <a:ext cx="178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Картографски услуги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8899" y="525774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Интеграция с картографски услуги за визуализация на задачите в реално време.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bg-BG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Уникалност: С какво сме различни?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 разлика </a:t>
            </a:r>
            <a:r>
              <a:rPr lang="en-US" sz="1350" dirty="0" err="1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</a:t>
            </a:r>
            <a:r>
              <a:rPr lang="en-US" sz="13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3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други </a:t>
            </a:r>
            <a:r>
              <a:rPr lang="en-US" sz="1350" dirty="0" err="1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сайтове</a:t>
            </a:r>
            <a:r>
              <a:rPr lang="en-US" sz="13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за обяви, които са създадени за транзакции, нашата платформа е създадена за хора.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3686175" cy="4838700"/>
          </a:xfrm>
          <a:custGeom>
            <a:avLst/>
            <a:gdLst/>
            <a:ahLst/>
            <a:cxnLst/>
            <a:rect l="l" t="t" r="r" b="b"/>
            <a:pathLst>
              <a:path w="3686175" h="48387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686314"/>
                </a:lnTo>
                <a:cubicBezTo>
                  <a:pt x="3686175" y="4770474"/>
                  <a:pt x="3617949" y="4838700"/>
                  <a:pt x="3533789" y="4838700"/>
                </a:cubicBezTo>
                <a:lnTo>
                  <a:pt x="152386" y="4838700"/>
                </a:lnTo>
                <a:cubicBezTo>
                  <a:pt x="68226" y="4838700"/>
                  <a:pt x="0" y="4770474"/>
                  <a:pt x="0" y="46863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5578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Shape 5"/>
          <p:cNvSpPr/>
          <p:nvPr/>
        </p:nvSpPr>
        <p:spPr>
          <a:xfrm>
            <a:off x="210818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14350" y="2514600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Смисъл, а не просто работа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933640"/>
            <a:ext cx="3381375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Платформи за доставки има много. Но ние даваме шанс на младите </a:t>
            </a:r>
            <a:r>
              <a:rPr lang="en-US" sz="12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хора</a:t>
            </a: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</a:t>
            </a: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изкарат допълнителен доход, докато </a:t>
            </a:r>
            <a:r>
              <a:rPr lang="en-US" sz="12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правят</a:t>
            </a: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нещо </a:t>
            </a:r>
            <a:r>
              <a:rPr lang="en-US" sz="1200" dirty="0">
                <a:solidFill>
                  <a:srgbClr val="5A6F7A"/>
                </a:solidFill>
                <a:highlight>
                  <a:srgbClr val="D4A574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истински смислено </a:t>
            </a: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5676900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A6F7A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2463" y="57912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 просто печелят пари, а реално помагат на обществото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4460" y="1638300"/>
            <a:ext cx="3686175" cy="4838700"/>
          </a:xfrm>
          <a:custGeom>
            <a:avLst/>
            <a:gdLst/>
            <a:ahLst/>
            <a:cxnLst/>
            <a:rect l="l" t="t" r="r" b="b"/>
            <a:pathLst>
              <a:path w="3686175" h="48387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686314"/>
                </a:lnTo>
                <a:cubicBezTo>
                  <a:pt x="3686175" y="4770474"/>
                  <a:pt x="3617949" y="4838700"/>
                  <a:pt x="3533789" y="4838700"/>
                </a:cubicBezTo>
                <a:lnTo>
                  <a:pt x="152386" y="4838700"/>
                </a:lnTo>
                <a:cubicBezTo>
                  <a:pt x="68226" y="4838700"/>
                  <a:pt x="0" y="4770474"/>
                  <a:pt x="0" y="46863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29241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67353" y="1981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87810" y="2514600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bg-BG" sz="1600" dirty="0"/>
              <a:t>Нашата опция за доброволство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4960" y="2933640"/>
            <a:ext cx="3381375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Нашата</a:t>
            </a: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визия е подаване на помощ и проява на уважение към по-възратните хора, които не могат да си позволят тези услуги.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4960" y="5676900"/>
            <a:ext cx="3305175" cy="609600"/>
          </a:xfrm>
          <a:custGeom>
            <a:avLst/>
            <a:gdLst/>
            <a:ahLst/>
            <a:cxnLst/>
            <a:rect l="l" t="t" r="r" b="b"/>
            <a:pathLst>
              <a:path w="3305175" h="6096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533400"/>
                </a:lnTo>
                <a:cubicBezTo>
                  <a:pt x="3305175" y="575456"/>
                  <a:pt x="3271031" y="609600"/>
                  <a:pt x="3228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98C7B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59260" y="57912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 err="1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Понякога</a:t>
            </a:r>
            <a:r>
              <a:rPr lang="bg-BG" sz="10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хората нямат средства и имат нужда от помощ</a:t>
            </a:r>
            <a:r>
              <a:rPr lang="en-US" sz="10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7980" y="1638300"/>
            <a:ext cx="3686175" cy="4838700"/>
          </a:xfrm>
          <a:custGeom>
            <a:avLst/>
            <a:gdLst/>
            <a:ahLst/>
            <a:cxnLst/>
            <a:rect l="l" t="t" r="r" b="b"/>
            <a:pathLst>
              <a:path w="3686175" h="48387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4686314"/>
                </a:lnTo>
                <a:cubicBezTo>
                  <a:pt x="3686175" y="4770474"/>
                  <a:pt x="3617949" y="4838700"/>
                  <a:pt x="3533789" y="4838700"/>
                </a:cubicBezTo>
                <a:lnTo>
                  <a:pt x="152386" y="4838700"/>
                </a:lnTo>
                <a:cubicBezTo>
                  <a:pt x="68226" y="4838700"/>
                  <a:pt x="0" y="4770474"/>
                  <a:pt x="0" y="46863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02761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5516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61330" y="2514600"/>
            <a:ext cx="3419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За доброто няма разстояния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8480" y="2933640"/>
            <a:ext cx="3381375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 HelpNow няма граници. Можеш да си в София и да организираш помощ за баба си в село на другия край на България. 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8480" y="5644055"/>
            <a:ext cx="3362325" cy="579383"/>
          </a:xfrm>
          <a:custGeom>
            <a:avLst/>
            <a:gdLst/>
            <a:ahLst/>
            <a:cxnLst/>
            <a:rect l="l" t="t" r="r" b="b"/>
            <a:pathLst>
              <a:path w="3305175" h="419100">
                <a:moveTo>
                  <a:pt x="76201" y="0"/>
                </a:moveTo>
                <a:lnTo>
                  <a:pt x="3228974" y="0"/>
                </a:lnTo>
                <a:cubicBezTo>
                  <a:pt x="3271059" y="0"/>
                  <a:pt x="3305175" y="34116"/>
                  <a:pt x="3305175" y="76201"/>
                </a:cubicBezTo>
                <a:lnTo>
                  <a:pt x="3305175" y="342899"/>
                </a:lnTo>
                <a:cubicBezTo>
                  <a:pt x="3305175" y="384984"/>
                  <a:pt x="3271059" y="419100"/>
                  <a:pt x="32289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4A574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97835" y="5838496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Скъсяваме разстоянията между хората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bg-BG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Екипът Necoders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Разпределение на задачите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714500"/>
            <a:ext cx="2162175" cy="3524250"/>
          </a:xfrm>
          <a:custGeom>
            <a:avLst/>
            <a:gdLst/>
            <a:ahLst/>
            <a:cxnLst/>
            <a:rect l="l" t="t" r="r" b="b"/>
            <a:pathLst>
              <a:path w="2162175" h="3524250">
                <a:moveTo>
                  <a:pt x="152390" y="0"/>
                </a:moveTo>
                <a:lnTo>
                  <a:pt x="2009785" y="0"/>
                </a:lnTo>
                <a:cubicBezTo>
                  <a:pt x="2093948" y="0"/>
                  <a:pt x="2162175" y="68227"/>
                  <a:pt x="2162175" y="152390"/>
                </a:cubicBezTo>
                <a:lnTo>
                  <a:pt x="2162175" y="3371860"/>
                </a:lnTo>
                <a:cubicBezTo>
                  <a:pt x="2162175" y="3456023"/>
                  <a:pt x="2093948" y="3524250"/>
                  <a:pt x="2009785" y="3524250"/>
                </a:cubicBezTo>
                <a:lnTo>
                  <a:pt x="152390" y="3524250"/>
                </a:lnTo>
                <a:cubicBezTo>
                  <a:pt x="68227" y="3524250"/>
                  <a:pt x="0" y="3456023"/>
                  <a:pt x="0" y="337186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824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Text 5"/>
          <p:cNvSpPr/>
          <p:nvPr/>
        </p:nvSpPr>
        <p:spPr>
          <a:xfrm>
            <a:off x="1101090" y="19050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ВХ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3875" y="2705100"/>
            <a:ext cx="1876425" cy="48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Васил</a:t>
            </a:r>
            <a:endParaRPr lang="bg-BG" sz="1500" b="1" dirty="0">
              <a:solidFill>
                <a:srgbClr val="5A6F7A"/>
              </a:solidFill>
              <a:latin typeface="Oranienbaum" pitchFamily="34" charset="0"/>
              <a:ea typeface="Oranienbaum" pitchFamily="34" charset="-122"/>
              <a:cs typeface="Oranienbaum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bg-BG" sz="1500" b="1" dirty="0">
                <a:solidFill>
                  <a:srgbClr val="5A6F7A"/>
                </a:solidFill>
                <a:latin typeface="Oranienbaum" pitchFamily="34" charset="0"/>
              </a:rPr>
              <a:t>Харалампиев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9337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4734879"/>
            <a:ext cx="1781175" cy="7620"/>
          </a:xfrm>
          <a:custGeom>
            <a:avLst/>
            <a:gdLst/>
            <a:ahLst/>
            <a:cxnLst/>
            <a:rect l="l" t="t" r="r" b="b"/>
            <a:pathLst>
              <a:path w="1781175" h="7620">
                <a:moveTo>
                  <a:pt x="0" y="0"/>
                </a:moveTo>
                <a:lnTo>
                  <a:pt x="1781175" y="0"/>
                </a:lnTo>
                <a:lnTo>
                  <a:pt x="1781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A6F7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8163" y="485298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A6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1714500"/>
            <a:ext cx="2162175" cy="3524250"/>
          </a:xfrm>
          <a:custGeom>
            <a:avLst/>
            <a:gdLst/>
            <a:ahLst/>
            <a:cxnLst/>
            <a:rect l="l" t="t" r="r" b="b"/>
            <a:pathLst>
              <a:path w="2162175" h="3524250">
                <a:moveTo>
                  <a:pt x="152390" y="0"/>
                </a:moveTo>
                <a:lnTo>
                  <a:pt x="2009785" y="0"/>
                </a:lnTo>
                <a:cubicBezTo>
                  <a:pt x="2093948" y="0"/>
                  <a:pt x="2162175" y="68227"/>
                  <a:pt x="2162175" y="152390"/>
                </a:cubicBezTo>
                <a:lnTo>
                  <a:pt x="2162175" y="3371860"/>
                </a:lnTo>
                <a:cubicBezTo>
                  <a:pt x="2162175" y="3456023"/>
                  <a:pt x="2093948" y="3524250"/>
                  <a:pt x="2009785" y="3524250"/>
                </a:cubicBezTo>
                <a:lnTo>
                  <a:pt x="152390" y="3524250"/>
                </a:lnTo>
                <a:cubicBezTo>
                  <a:pt x="68227" y="3524250"/>
                  <a:pt x="0" y="3456023"/>
                  <a:pt x="0" y="337186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14" name="Text 12"/>
          <p:cNvSpPr/>
          <p:nvPr/>
        </p:nvSpPr>
        <p:spPr>
          <a:xfrm>
            <a:off x="3417570" y="19050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40355" y="27813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Константин</a:t>
            </a:r>
            <a:endParaRPr lang="bg-BG" sz="1500" b="1" dirty="0">
              <a:solidFill>
                <a:srgbClr val="5A6F7A"/>
              </a:solidFill>
              <a:latin typeface="Oranienbaum" pitchFamily="34" charset="0"/>
              <a:ea typeface="Oranienbaum" pitchFamily="34" charset="-122"/>
              <a:cs typeface="Oranienbaum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bg-BG" sz="1500" b="1" dirty="0">
                <a:solidFill>
                  <a:srgbClr val="5A6F7A"/>
                </a:solidFill>
                <a:latin typeface="Oranienbaum" pitchFamily="34" charset="0"/>
              </a:rPr>
              <a:t>Александров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49880" y="29337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87980" y="4734879"/>
            <a:ext cx="1781175" cy="7620"/>
          </a:xfrm>
          <a:custGeom>
            <a:avLst/>
            <a:gdLst/>
            <a:ahLst/>
            <a:cxnLst/>
            <a:rect l="l" t="t" r="r" b="b"/>
            <a:pathLst>
              <a:path w="1781175" h="7620">
                <a:moveTo>
                  <a:pt x="0" y="0"/>
                </a:moveTo>
                <a:lnTo>
                  <a:pt x="1781175" y="0"/>
                </a:lnTo>
                <a:lnTo>
                  <a:pt x="1781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A6F7A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54643" y="485298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A6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13960" y="1714500"/>
            <a:ext cx="2162175" cy="3524250"/>
          </a:xfrm>
          <a:custGeom>
            <a:avLst/>
            <a:gdLst/>
            <a:ahLst/>
            <a:cxnLst/>
            <a:rect l="l" t="t" r="r" b="b"/>
            <a:pathLst>
              <a:path w="2162175" h="3524250">
                <a:moveTo>
                  <a:pt x="152390" y="0"/>
                </a:moveTo>
                <a:lnTo>
                  <a:pt x="2009785" y="0"/>
                </a:lnTo>
                <a:cubicBezTo>
                  <a:pt x="2093948" y="0"/>
                  <a:pt x="2162175" y="68227"/>
                  <a:pt x="2162175" y="152390"/>
                </a:cubicBezTo>
                <a:lnTo>
                  <a:pt x="2162175" y="3371860"/>
                </a:lnTo>
                <a:cubicBezTo>
                  <a:pt x="2162175" y="3456023"/>
                  <a:pt x="2093948" y="3524250"/>
                  <a:pt x="2009785" y="3524250"/>
                </a:cubicBezTo>
                <a:lnTo>
                  <a:pt x="152390" y="3524250"/>
                </a:lnTo>
                <a:cubicBezTo>
                  <a:pt x="68227" y="3524250"/>
                  <a:pt x="0" y="3456023"/>
                  <a:pt x="0" y="337186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912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21" name="Text 19"/>
          <p:cNvSpPr/>
          <p:nvPr/>
        </p:nvSpPr>
        <p:spPr>
          <a:xfrm>
            <a:off x="5734050" y="19050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БМ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56835" y="2746916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A98C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Боян</a:t>
            </a:r>
            <a:endParaRPr lang="bg-BG" sz="1500" b="1" dirty="0">
              <a:solidFill>
                <a:srgbClr val="A98C7B"/>
              </a:solidFill>
              <a:latin typeface="Oranienbaum" pitchFamily="34" charset="0"/>
              <a:ea typeface="Oranienbaum" pitchFamily="34" charset="-122"/>
              <a:cs typeface="Oranienbaum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bg-BG" sz="1500" b="1" dirty="0">
                <a:solidFill>
                  <a:srgbClr val="A98C7B"/>
                </a:solidFill>
                <a:latin typeface="Oranienbaum" pitchFamily="34" charset="0"/>
              </a:rPr>
              <a:t>Максимов</a:t>
            </a:r>
            <a:endParaRPr lang="en-US" sz="1600" dirty="0">
              <a:solidFill>
                <a:srgbClr val="A98C7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9337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04460" y="4734879"/>
            <a:ext cx="1781175" cy="7620"/>
          </a:xfrm>
          <a:custGeom>
            <a:avLst/>
            <a:gdLst/>
            <a:ahLst/>
            <a:cxnLst/>
            <a:rect l="l" t="t" r="r" b="b"/>
            <a:pathLst>
              <a:path w="1781175" h="7620">
                <a:moveTo>
                  <a:pt x="0" y="0"/>
                </a:moveTo>
                <a:lnTo>
                  <a:pt x="1781175" y="0"/>
                </a:lnTo>
                <a:lnTo>
                  <a:pt x="1781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A98C7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71123" y="485298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30440" y="1714500"/>
            <a:ext cx="2162175" cy="3524250"/>
          </a:xfrm>
          <a:custGeom>
            <a:avLst/>
            <a:gdLst/>
            <a:ahLst/>
            <a:cxnLst/>
            <a:rect l="l" t="t" r="r" b="b"/>
            <a:pathLst>
              <a:path w="2162175" h="3524250">
                <a:moveTo>
                  <a:pt x="152390" y="0"/>
                </a:moveTo>
                <a:lnTo>
                  <a:pt x="2009785" y="0"/>
                </a:lnTo>
                <a:cubicBezTo>
                  <a:pt x="2093948" y="0"/>
                  <a:pt x="2162175" y="68227"/>
                  <a:pt x="2162175" y="152390"/>
                </a:cubicBezTo>
                <a:lnTo>
                  <a:pt x="2162175" y="3371860"/>
                </a:lnTo>
                <a:cubicBezTo>
                  <a:pt x="2162175" y="3456023"/>
                  <a:pt x="2093948" y="3524250"/>
                  <a:pt x="2009785" y="3524250"/>
                </a:cubicBezTo>
                <a:lnTo>
                  <a:pt x="152390" y="3524250"/>
                </a:lnTo>
                <a:cubicBezTo>
                  <a:pt x="68227" y="3524250"/>
                  <a:pt x="0" y="3456023"/>
                  <a:pt x="0" y="337186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768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98C7B"/>
          </a:solidFill>
          <a:ln/>
        </p:spPr>
      </p:sp>
      <p:sp>
        <p:nvSpPr>
          <p:cNvPr id="28" name="Text 26"/>
          <p:cNvSpPr/>
          <p:nvPr/>
        </p:nvSpPr>
        <p:spPr>
          <a:xfrm>
            <a:off x="8050530" y="19050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РК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73315" y="2775679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A98C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Рая</a:t>
            </a:r>
            <a:endParaRPr lang="bg-BG" sz="1500" b="1" dirty="0">
              <a:solidFill>
                <a:srgbClr val="A98C7B"/>
              </a:solidFill>
              <a:latin typeface="Oranienbaum" pitchFamily="34" charset="0"/>
              <a:ea typeface="Oranienbaum" pitchFamily="34" charset="-122"/>
              <a:cs typeface="Oranienbaum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bg-BG" sz="1500" b="1" dirty="0">
                <a:solidFill>
                  <a:srgbClr val="A98C7B"/>
                </a:solidFill>
                <a:latin typeface="Oranienbaum" pitchFamily="34" charset="0"/>
              </a:rPr>
              <a:t>Кирилова</a:t>
            </a:r>
            <a:endParaRPr lang="en-US" sz="1600" dirty="0">
              <a:solidFill>
                <a:srgbClr val="A98C7B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82840" y="29337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0940" y="4734879"/>
            <a:ext cx="1781175" cy="7620"/>
          </a:xfrm>
          <a:custGeom>
            <a:avLst/>
            <a:gdLst/>
            <a:ahLst/>
            <a:cxnLst/>
            <a:rect l="l" t="t" r="r" b="b"/>
            <a:pathLst>
              <a:path w="1781175" h="7620">
                <a:moveTo>
                  <a:pt x="0" y="0"/>
                </a:moveTo>
                <a:lnTo>
                  <a:pt x="1781175" y="0"/>
                </a:lnTo>
                <a:lnTo>
                  <a:pt x="1781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A98C7B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487603" y="4852988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46920" y="1714500"/>
            <a:ext cx="2162175" cy="3524250"/>
          </a:xfrm>
          <a:custGeom>
            <a:avLst/>
            <a:gdLst/>
            <a:ahLst/>
            <a:cxnLst/>
            <a:rect l="l" t="t" r="r" b="b"/>
            <a:pathLst>
              <a:path w="2162175" h="3524250">
                <a:moveTo>
                  <a:pt x="152390" y="0"/>
                </a:moveTo>
                <a:lnTo>
                  <a:pt x="2009785" y="0"/>
                </a:lnTo>
                <a:cubicBezTo>
                  <a:pt x="2093948" y="0"/>
                  <a:pt x="2162175" y="68227"/>
                  <a:pt x="2162175" y="152390"/>
                </a:cubicBezTo>
                <a:lnTo>
                  <a:pt x="2162175" y="3371860"/>
                </a:lnTo>
                <a:cubicBezTo>
                  <a:pt x="2162175" y="3456023"/>
                  <a:pt x="2093948" y="3524250"/>
                  <a:pt x="2009785" y="3524250"/>
                </a:cubicBezTo>
                <a:lnTo>
                  <a:pt x="152390" y="3524250"/>
                </a:lnTo>
                <a:cubicBezTo>
                  <a:pt x="68227" y="3524250"/>
                  <a:pt x="0" y="3456023"/>
                  <a:pt x="0" y="337186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2416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35" name="Text 33"/>
          <p:cNvSpPr/>
          <p:nvPr/>
        </p:nvSpPr>
        <p:spPr>
          <a:xfrm>
            <a:off x="10367010" y="19050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ЗП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89795" y="2750664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Здравко</a:t>
            </a:r>
            <a:endParaRPr lang="bg-BG" sz="1500" b="1" dirty="0">
              <a:solidFill>
                <a:srgbClr val="D4A574"/>
              </a:solidFill>
              <a:latin typeface="Oranienbaum" pitchFamily="34" charset="0"/>
              <a:ea typeface="Oranienbaum" pitchFamily="34" charset="-122"/>
              <a:cs typeface="Oranienbaum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bg-BG" sz="1500" b="1" dirty="0">
                <a:solidFill>
                  <a:srgbClr val="D4A574"/>
                </a:solidFill>
                <a:latin typeface="Oranienbaum" pitchFamily="34" charset="0"/>
              </a:rPr>
              <a:t>Попилиев</a:t>
            </a:r>
            <a:endParaRPr lang="en-US" sz="1600" dirty="0">
              <a:solidFill>
                <a:srgbClr val="D4A574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799320" y="29337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51708" y="4731069"/>
            <a:ext cx="1781175" cy="7620"/>
          </a:xfrm>
          <a:custGeom>
            <a:avLst/>
            <a:gdLst/>
            <a:ahLst/>
            <a:cxnLst/>
            <a:rect l="l" t="t" r="r" b="b"/>
            <a:pathLst>
              <a:path w="1781175" h="7620">
                <a:moveTo>
                  <a:pt x="0" y="0"/>
                </a:moveTo>
                <a:lnTo>
                  <a:pt x="1781175" y="0"/>
                </a:lnTo>
                <a:lnTo>
                  <a:pt x="17811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799320" y="4742499"/>
            <a:ext cx="1847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Координация + Презентация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5462588"/>
            <a:ext cx="11430000" cy="1019175"/>
          </a:xfrm>
          <a:custGeom>
            <a:avLst/>
            <a:gdLst/>
            <a:ahLst/>
            <a:cxnLst/>
            <a:rect l="l" t="t" r="r" b="b"/>
            <a:pathLst>
              <a:path w="11430000" h="1019175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866778"/>
                </a:lnTo>
                <a:cubicBezTo>
                  <a:pt x="11430000" y="950944"/>
                  <a:pt x="11361769" y="1019175"/>
                  <a:pt x="11277603" y="1019175"/>
                </a:cubicBezTo>
                <a:lnTo>
                  <a:pt x="152397" y="1019175"/>
                </a:lnTo>
                <a:cubicBezTo>
                  <a:pt x="68287" y="1019175"/>
                  <a:pt x="0" y="950888"/>
                  <a:pt x="0" y="8667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41" name="Shape 39"/>
          <p:cNvSpPr/>
          <p:nvPr/>
        </p:nvSpPr>
        <p:spPr>
          <a:xfrm>
            <a:off x="652463" y="579262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42" name="Text 40"/>
          <p:cNvSpPr/>
          <p:nvPr/>
        </p:nvSpPr>
        <p:spPr>
          <a:xfrm>
            <a:off x="1198941" y="5672007"/>
            <a:ext cx="104013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bg-BG" sz="1600" dirty="0">
                <a:solidFill>
                  <a:schemeClr val="bg1">
                    <a:lumMod val="95000"/>
                  </a:schemeClr>
                </a:solidFill>
              </a:rPr>
              <a:t>Нашият ментор Нейчо Калайджиев помогна с технически затруднения, дизайн и уточняване на крайната идея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Сигурност и доверие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Нашият ангажимент към безопасността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2992" y="2029591"/>
            <a:ext cx="5562600" cy="3162300"/>
          </a:xfrm>
          <a:custGeom>
            <a:avLst/>
            <a:gdLst/>
            <a:ahLst/>
            <a:cxnLst/>
            <a:rect l="l" t="t" r="r" b="b"/>
            <a:pathLst>
              <a:path w="5562600" h="2400300">
                <a:moveTo>
                  <a:pt x="152395" y="0"/>
                </a:moveTo>
                <a:lnTo>
                  <a:pt x="5410205" y="0"/>
                </a:lnTo>
                <a:cubicBezTo>
                  <a:pt x="5494370" y="0"/>
                  <a:pt x="5562600" y="68230"/>
                  <a:pt x="5562600" y="152395"/>
                </a:cubicBezTo>
                <a:lnTo>
                  <a:pt x="5562600" y="2247905"/>
                </a:lnTo>
                <a:cubicBezTo>
                  <a:pt x="5562600" y="2332070"/>
                  <a:pt x="5494370" y="2400300"/>
                  <a:pt x="54102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pSp>
        <p:nvGrpSpPr>
          <p:cNvPr id="35" name="Group 34"/>
          <p:cNvGrpSpPr/>
          <p:nvPr/>
        </p:nvGrpSpPr>
        <p:grpSpPr>
          <a:xfrm>
            <a:off x="571500" y="2453672"/>
            <a:ext cx="5257800" cy="1779205"/>
            <a:chOff x="571500" y="1743075"/>
            <a:chExt cx="5257800" cy="1779205"/>
          </a:xfrm>
        </p:grpSpPr>
        <p:sp>
          <p:nvSpPr>
            <p:cNvPr id="5" name="Shape 3"/>
            <p:cNvSpPr/>
            <p:nvPr/>
          </p:nvSpPr>
          <p:spPr>
            <a:xfrm>
              <a:off x="571500" y="17430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28600" y="0"/>
                  </a:lnTo>
                  <a:cubicBezTo>
                    <a:pt x="354768" y="0"/>
                    <a:pt x="457200" y="102432"/>
                    <a:pt x="457200" y="228600"/>
                  </a:cubicBezTo>
                  <a:lnTo>
                    <a:pt x="457200" y="228600"/>
                  </a:lnTo>
                  <a:cubicBezTo>
                    <a:pt x="457200" y="354768"/>
                    <a:pt x="354768" y="457200"/>
                    <a:pt x="228600" y="457200"/>
                  </a:cubicBezTo>
                  <a:lnTo>
                    <a:pt x="228600" y="457200"/>
                  </a:lnTo>
                  <a:cubicBezTo>
                    <a:pt x="102432" y="457200"/>
                    <a:pt x="0" y="354768"/>
                    <a:pt x="0" y="228600"/>
                  </a:cubicBezTo>
                  <a:lnTo>
                    <a:pt x="0" y="228600"/>
                  </a:lnTo>
                  <a:cubicBezTo>
                    <a:pt x="0" y="102432"/>
                    <a:pt x="102432" y="0"/>
                    <a:pt x="228600" y="0"/>
                  </a:cubicBezTo>
                  <a:close/>
                </a:path>
              </a:pathLst>
            </a:custGeom>
            <a:solidFill>
              <a:srgbClr val="5A6F7A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692944" y="1876425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15156" y="-7032"/>
                  </a:moveTo>
                  <a:cubicBezTo>
                    <a:pt x="113630" y="-10009"/>
                    <a:pt x="110542" y="-11906"/>
                    <a:pt x="107193" y="-11906"/>
                  </a:cubicBezTo>
                  <a:cubicBezTo>
                    <a:pt x="103845" y="-11906"/>
                    <a:pt x="100757" y="-10009"/>
                    <a:pt x="99231" y="-7032"/>
                  </a:cubicBezTo>
                  <a:lnTo>
                    <a:pt x="71847" y="46620"/>
                  </a:lnTo>
                  <a:lnTo>
                    <a:pt x="12353" y="56071"/>
                  </a:lnTo>
                  <a:cubicBezTo>
                    <a:pt x="9041" y="56592"/>
                    <a:pt x="6288" y="58936"/>
                    <a:pt x="5246" y="62136"/>
                  </a:cubicBezTo>
                  <a:cubicBezTo>
                    <a:pt x="4204" y="65336"/>
                    <a:pt x="5060" y="68833"/>
                    <a:pt x="7404" y="71214"/>
                  </a:cubicBezTo>
                  <a:lnTo>
                    <a:pt x="49969" y="113816"/>
                  </a:lnTo>
                  <a:lnTo>
                    <a:pt x="40593" y="173310"/>
                  </a:lnTo>
                  <a:cubicBezTo>
                    <a:pt x="40072" y="176622"/>
                    <a:pt x="41449" y="179970"/>
                    <a:pt x="44165" y="181942"/>
                  </a:cubicBezTo>
                  <a:cubicBezTo>
                    <a:pt x="46881" y="183914"/>
                    <a:pt x="50453" y="184212"/>
                    <a:pt x="53467" y="182687"/>
                  </a:cubicBezTo>
                  <a:lnTo>
                    <a:pt x="107193" y="155377"/>
                  </a:lnTo>
                  <a:lnTo>
                    <a:pt x="160883" y="182687"/>
                  </a:lnTo>
                  <a:cubicBezTo>
                    <a:pt x="163860" y="184212"/>
                    <a:pt x="167469" y="183914"/>
                    <a:pt x="170185" y="181942"/>
                  </a:cubicBezTo>
                  <a:cubicBezTo>
                    <a:pt x="172901" y="179970"/>
                    <a:pt x="174278" y="176659"/>
                    <a:pt x="173757" y="173310"/>
                  </a:cubicBezTo>
                  <a:lnTo>
                    <a:pt x="164343" y="113816"/>
                  </a:lnTo>
                  <a:lnTo>
                    <a:pt x="206908" y="71214"/>
                  </a:lnTo>
                  <a:cubicBezTo>
                    <a:pt x="209290" y="68833"/>
                    <a:pt x="210108" y="65336"/>
                    <a:pt x="209066" y="62136"/>
                  </a:cubicBezTo>
                  <a:cubicBezTo>
                    <a:pt x="208025" y="58936"/>
                    <a:pt x="205308" y="56592"/>
                    <a:pt x="201960" y="56071"/>
                  </a:cubicBezTo>
                  <a:lnTo>
                    <a:pt x="142503" y="46620"/>
                  </a:lnTo>
                  <a:lnTo>
                    <a:pt x="115156" y="-7032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1181100" y="1819275"/>
              <a:ext cx="20955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bg-BG" b="1" dirty="0">
                  <a:solidFill>
                    <a:srgbClr val="5A6F7A"/>
                  </a:solidFill>
                  <a:latin typeface="Oranienbaum" pitchFamily="34" charset="0"/>
                </a:rPr>
                <a:t>Защита на адрес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71500" y="2334448"/>
              <a:ext cx="5257800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Чрез системата </a:t>
              </a:r>
              <a:r>
                <a:rPr lang="en-US" sz="1300" dirty="0" err="1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за</a:t>
              </a:r>
              <a:r>
                <a:rPr lang="en-US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bg-BG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скриване на адрес до одобрение</a:t>
              </a:r>
              <a:r>
                <a:rPr lang="en-US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en-US" sz="1300" dirty="0" err="1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ние</a:t>
              </a:r>
              <a:r>
                <a:rPr lang="en-US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</a:t>
              </a:r>
              <a:r>
                <a:rPr lang="en-US" sz="1300" dirty="0" err="1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гарантираме</a:t>
              </a:r>
              <a:r>
                <a:rPr lang="bg-BG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сигурност и защита на лична информация от опити за злоупотреба</a:t>
              </a:r>
              <a:r>
                <a:rPr lang="en-US" sz="1300" dirty="0">
                  <a:solidFill>
                    <a:srgbClr val="3D3D3D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.</a:t>
              </a:r>
              <a:endParaRPr lang="en-US" sz="13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65607" y="321748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29421" y="20866"/>
                  </a:moveTo>
                  <a:cubicBezTo>
                    <a:pt x="133677" y="23961"/>
                    <a:pt x="134630" y="29914"/>
                    <a:pt x="131534" y="34171"/>
                  </a:cubicBezTo>
                  <a:lnTo>
                    <a:pt x="55334" y="138946"/>
                  </a:lnTo>
                  <a:cubicBezTo>
                    <a:pt x="53697" y="141208"/>
                    <a:pt x="51167" y="142607"/>
                    <a:pt x="48369" y="142845"/>
                  </a:cubicBezTo>
                  <a:cubicBezTo>
                    <a:pt x="45571" y="143083"/>
                    <a:pt x="42863" y="142042"/>
                    <a:pt x="40898" y="140077"/>
                  </a:cubicBezTo>
                  <a:lnTo>
                    <a:pt x="2798" y="101977"/>
                  </a:lnTo>
                  <a:cubicBezTo>
                    <a:pt x="-923" y="98256"/>
                    <a:pt x="-923" y="92214"/>
                    <a:pt x="2798" y="88493"/>
                  </a:cubicBezTo>
                  <a:cubicBezTo>
                    <a:pt x="6519" y="84773"/>
                    <a:pt x="12561" y="84773"/>
                    <a:pt x="16282" y="88493"/>
                  </a:cubicBezTo>
                  <a:lnTo>
                    <a:pt x="46494" y="118705"/>
                  </a:lnTo>
                  <a:lnTo>
                    <a:pt x="116145" y="22949"/>
                  </a:lnTo>
                  <a:cubicBezTo>
                    <a:pt x="119241" y="18693"/>
                    <a:pt x="125194" y="17740"/>
                    <a:pt x="129451" y="20836"/>
                  </a:cubicBezTo>
                  <a:close/>
                </a:path>
              </a:pathLst>
            </a:custGeom>
            <a:solidFill>
              <a:srgbClr val="D4A574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868680" y="3293680"/>
              <a:ext cx="4618221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bg-BG" sz="1200" dirty="0">
                  <a:solidFill>
                    <a:srgbClr val="3D3D3D"/>
                  </a:solidFill>
                </a:rPr>
                <a:t>Системата показва само града при търсене на работа от страна на работника </a:t>
              </a:r>
              <a:endParaRPr lang="en-US" sz="16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868680" y="334327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642491"/>
            <a:ext cx="318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10300" y="1489841"/>
            <a:ext cx="5562600" cy="4762500"/>
          </a:xfrm>
          <a:custGeom>
            <a:avLst/>
            <a:gdLst/>
            <a:ahLst/>
            <a:cxnLst/>
            <a:rect l="l" t="t" r="r" b="b"/>
            <a:pathLst>
              <a:path w="5562600" h="4762500">
                <a:moveTo>
                  <a:pt x="152400" y="0"/>
                </a:moveTo>
                <a:lnTo>
                  <a:pt x="5410200" y="0"/>
                </a:lnTo>
                <a:cubicBezTo>
                  <a:pt x="5494312" y="0"/>
                  <a:pt x="5562600" y="68288"/>
                  <a:pt x="5562600" y="152400"/>
                </a:cubicBezTo>
                <a:lnTo>
                  <a:pt x="5562600" y="4610100"/>
                </a:lnTo>
                <a:cubicBezTo>
                  <a:pt x="5562600" y="4694212"/>
                  <a:pt x="5494312" y="4762500"/>
                  <a:pt x="5410200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F7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8" name="Shape 25"/>
          <p:cNvSpPr/>
          <p:nvPr/>
        </p:nvSpPr>
        <p:spPr>
          <a:xfrm>
            <a:off x="6477000" y="4841081"/>
            <a:ext cx="5105400" cy="1219200"/>
          </a:xfrm>
          <a:custGeom>
            <a:avLst/>
            <a:gdLst/>
            <a:ahLst/>
            <a:cxnLst/>
            <a:rect l="l" t="t" r="r" b="b"/>
            <a:pathLst>
              <a:path w="5105400" h="1219200">
                <a:moveTo>
                  <a:pt x="114300" y="0"/>
                </a:moveTo>
                <a:lnTo>
                  <a:pt x="4991100" y="0"/>
                </a:lnTo>
                <a:cubicBezTo>
                  <a:pt x="5054184" y="0"/>
                  <a:pt x="5105400" y="51216"/>
                  <a:pt x="5105400" y="114300"/>
                </a:cubicBezTo>
                <a:lnTo>
                  <a:pt x="5105400" y="1104900"/>
                </a:lnTo>
                <a:cubicBezTo>
                  <a:pt x="5105400" y="1167984"/>
                  <a:pt x="5054184" y="1219200"/>
                  <a:pt x="49911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667500" y="5031581"/>
            <a:ext cx="4810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Нашият</a:t>
            </a:r>
            <a:r>
              <a:rPr lang="en-US" sz="1350" b="1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50" b="1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ангажимент</a:t>
            </a:r>
            <a:r>
              <a:rPr lang="en-US" sz="1350" b="1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bg-BG" sz="1350" b="1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bg-BG" sz="135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 осигурим безопасно и сигурно използване на нашата платформа</a:t>
            </a:r>
            <a:endParaRPr lang="en-US" sz="16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116" y="1902995"/>
            <a:ext cx="3543642" cy="2353128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90525" y="125371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bg-BG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bg-BG" sz="1200" b="1" kern="0" spc="6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Визия за бъдещето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98C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Бъдещето на HelpNow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5562600" cy="3095625"/>
          </a:xfrm>
          <a:custGeom>
            <a:avLst/>
            <a:gdLst/>
            <a:ahLst/>
            <a:cxnLst/>
            <a:rect l="l" t="t" r="r" b="b"/>
            <a:pathLst>
              <a:path w="5562600" h="3095625">
                <a:moveTo>
                  <a:pt x="152398" y="0"/>
                </a:moveTo>
                <a:lnTo>
                  <a:pt x="5410202" y="0"/>
                </a:lnTo>
                <a:cubicBezTo>
                  <a:pt x="5494369" y="0"/>
                  <a:pt x="5562600" y="68231"/>
                  <a:pt x="5562600" y="152398"/>
                </a:cubicBezTo>
                <a:lnTo>
                  <a:pt x="5562600" y="2943227"/>
                </a:lnTo>
                <a:cubicBezTo>
                  <a:pt x="5562600" y="3027394"/>
                  <a:pt x="5494369" y="3095625"/>
                  <a:pt x="5410202" y="3095625"/>
                </a:cubicBezTo>
                <a:lnTo>
                  <a:pt x="152398" y="3095625"/>
                </a:lnTo>
                <a:cubicBezTo>
                  <a:pt x="68231" y="3095625"/>
                  <a:pt x="0" y="3027394"/>
                  <a:pt x="0" y="29432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3812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7" name="Shape 5"/>
          <p:cNvSpPr/>
          <p:nvPr/>
        </p:nvSpPr>
        <p:spPr>
          <a:xfrm>
            <a:off x="926306" y="2619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438400"/>
            <a:ext cx="971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A6F7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Днес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1940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Настояще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371850"/>
            <a:ext cx="5048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Имаме</a:t>
            </a:r>
            <a:r>
              <a:rPr lang="bg-BG" sz="15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работещ прототип</a:t>
            </a:r>
            <a:r>
              <a:rPr lang="en-US" sz="1500" dirty="0">
                <a:solidFill>
                  <a:srgbClr val="3D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който демонстрира основната функционалност на платформата.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4106" y="1638300"/>
            <a:ext cx="5562600" cy="2352675"/>
          </a:xfrm>
          <a:custGeom>
            <a:avLst/>
            <a:gdLst/>
            <a:ahLst/>
            <a:cxnLst/>
            <a:rect l="l" t="t" r="r" b="b"/>
            <a:pathLst>
              <a:path w="5562600" h="3095625">
                <a:moveTo>
                  <a:pt x="152398" y="0"/>
                </a:moveTo>
                <a:lnTo>
                  <a:pt x="5410202" y="0"/>
                </a:lnTo>
                <a:cubicBezTo>
                  <a:pt x="5494369" y="0"/>
                  <a:pt x="5562600" y="68231"/>
                  <a:pt x="5562600" y="152398"/>
                </a:cubicBezTo>
                <a:lnTo>
                  <a:pt x="5562600" y="2943227"/>
                </a:lnTo>
                <a:cubicBezTo>
                  <a:pt x="5562600" y="3027394"/>
                  <a:pt x="5494369" y="3095625"/>
                  <a:pt x="5410202" y="3095625"/>
                </a:cubicBezTo>
                <a:lnTo>
                  <a:pt x="152398" y="3095625"/>
                </a:lnTo>
                <a:cubicBezTo>
                  <a:pt x="68231" y="3095625"/>
                  <a:pt x="0" y="3027394"/>
                  <a:pt x="0" y="29432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5A6F7A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grpSp>
        <p:nvGrpSpPr>
          <p:cNvPr id="31" name="Group 30"/>
          <p:cNvGrpSpPr/>
          <p:nvPr/>
        </p:nvGrpSpPr>
        <p:grpSpPr>
          <a:xfrm>
            <a:off x="6484805" y="1860698"/>
            <a:ext cx="742289" cy="711496"/>
            <a:chOff x="6553200" y="1943100"/>
            <a:chExt cx="762000" cy="762000"/>
          </a:xfrm>
        </p:grpSpPr>
        <p:sp>
          <p:nvSpPr>
            <p:cNvPr id="12" name="Shape 10"/>
            <p:cNvSpPr/>
            <p:nvPr/>
          </p:nvSpPr>
          <p:spPr>
            <a:xfrm>
              <a:off x="6553200" y="19431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81000" y="0"/>
                  </a:lnTo>
                  <a:cubicBezTo>
                    <a:pt x="591280" y="0"/>
                    <a:pt x="762000" y="170720"/>
                    <a:pt x="762000" y="381000"/>
                  </a:cubicBezTo>
                  <a:lnTo>
                    <a:pt x="762000" y="381000"/>
                  </a:lnTo>
                  <a:cubicBezTo>
                    <a:pt x="762000" y="591280"/>
                    <a:pt x="591280" y="762000"/>
                    <a:pt x="381000" y="762000"/>
                  </a:cubicBezTo>
                  <a:lnTo>
                    <a:pt x="381000" y="762000"/>
                  </a:lnTo>
                  <a:cubicBezTo>
                    <a:pt x="170720" y="762000"/>
                    <a:pt x="0" y="591280"/>
                    <a:pt x="0" y="381000"/>
                  </a:cubicBezTo>
                  <a:lnTo>
                    <a:pt x="0" y="381000"/>
                  </a:lnTo>
                  <a:cubicBezTo>
                    <a:pt x="0" y="170720"/>
                    <a:pt x="170720" y="0"/>
                    <a:pt x="381000" y="0"/>
                  </a:cubicBezTo>
                  <a:close/>
                </a:path>
              </a:pathLst>
            </a:custGeom>
            <a:solidFill>
              <a:srgbClr val="D4A574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6775847" y="2181225"/>
              <a:ext cx="321469" cy="285750"/>
            </a:xfrm>
            <a:custGeom>
              <a:avLst/>
              <a:gdLst/>
              <a:ahLst/>
              <a:cxnLst/>
              <a:rect l="l" t="t" r="r" b="b"/>
              <a:pathLst>
                <a:path w="321469" h="285750">
                  <a:moveTo>
                    <a:pt x="172734" y="-10548"/>
                  </a:moveTo>
                  <a:cubicBezTo>
                    <a:pt x="170445" y="-15013"/>
                    <a:pt x="165813" y="-17859"/>
                    <a:pt x="160790" y="-17859"/>
                  </a:cubicBezTo>
                  <a:cubicBezTo>
                    <a:pt x="155767" y="-17859"/>
                    <a:pt x="151135" y="-15013"/>
                    <a:pt x="148847" y="-10548"/>
                  </a:cubicBezTo>
                  <a:lnTo>
                    <a:pt x="107770" y="69931"/>
                  </a:lnTo>
                  <a:lnTo>
                    <a:pt x="18529" y="84106"/>
                  </a:lnTo>
                  <a:cubicBezTo>
                    <a:pt x="13562" y="84888"/>
                    <a:pt x="9432" y="88404"/>
                    <a:pt x="7869" y="93204"/>
                  </a:cubicBezTo>
                  <a:cubicBezTo>
                    <a:pt x="6307" y="98003"/>
                    <a:pt x="7590" y="103250"/>
                    <a:pt x="11106" y="106821"/>
                  </a:cubicBezTo>
                  <a:lnTo>
                    <a:pt x="74954" y="170724"/>
                  </a:lnTo>
                  <a:lnTo>
                    <a:pt x="60889" y="259966"/>
                  </a:lnTo>
                  <a:cubicBezTo>
                    <a:pt x="60108" y="264933"/>
                    <a:pt x="62173" y="269956"/>
                    <a:pt x="66247" y="272914"/>
                  </a:cubicBezTo>
                  <a:cubicBezTo>
                    <a:pt x="70321" y="275872"/>
                    <a:pt x="75679" y="276318"/>
                    <a:pt x="80200" y="274030"/>
                  </a:cubicBezTo>
                  <a:lnTo>
                    <a:pt x="160790" y="233065"/>
                  </a:lnTo>
                  <a:lnTo>
                    <a:pt x="241325" y="274030"/>
                  </a:lnTo>
                  <a:cubicBezTo>
                    <a:pt x="245790" y="276318"/>
                    <a:pt x="251203" y="275872"/>
                    <a:pt x="255277" y="272914"/>
                  </a:cubicBezTo>
                  <a:cubicBezTo>
                    <a:pt x="259352" y="269956"/>
                    <a:pt x="261417" y="264988"/>
                    <a:pt x="260635" y="259966"/>
                  </a:cubicBezTo>
                  <a:lnTo>
                    <a:pt x="246515" y="170724"/>
                  </a:lnTo>
                  <a:lnTo>
                    <a:pt x="310362" y="106821"/>
                  </a:lnTo>
                  <a:cubicBezTo>
                    <a:pt x="313934" y="103250"/>
                    <a:pt x="315162" y="98003"/>
                    <a:pt x="313599" y="93204"/>
                  </a:cubicBezTo>
                  <a:cubicBezTo>
                    <a:pt x="312037" y="88404"/>
                    <a:pt x="307963" y="84888"/>
                    <a:pt x="302940" y="84106"/>
                  </a:cubicBezTo>
                  <a:lnTo>
                    <a:pt x="213754" y="69931"/>
                  </a:lnTo>
                  <a:lnTo>
                    <a:pt x="172734" y="-10548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</p:sp>
      </p:grpSp>
      <p:sp>
        <p:nvSpPr>
          <p:cNvPr id="14" name="Text 12"/>
          <p:cNvSpPr/>
          <p:nvPr/>
        </p:nvSpPr>
        <p:spPr>
          <a:xfrm>
            <a:off x="7467600" y="2000250"/>
            <a:ext cx="81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Утре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67600" y="238125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Бъдеще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200" y="2933700"/>
            <a:ext cx="5048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Искаме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HelpNow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да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се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превърне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в </a:t>
            </a:r>
            <a:r>
              <a:rPr lang="en-US" sz="1500" dirty="0" err="1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златния</a:t>
            </a:r>
            <a:r>
              <a:rPr lang="en-US" sz="1500" dirty="0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стандарт</a:t>
            </a:r>
            <a:r>
              <a:rPr lang="en-US" sz="1500" dirty="0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за</a:t>
            </a:r>
            <a:r>
              <a:rPr lang="en-US" sz="1500" dirty="0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социална</a:t>
            </a:r>
            <a:r>
              <a:rPr lang="en-US" sz="1500" dirty="0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грижа</a:t>
            </a:r>
            <a:r>
              <a:rPr lang="en-US" sz="1500" dirty="0">
                <a:solidFill>
                  <a:srgbClr val="D4A574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във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всяко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населено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място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в </a:t>
            </a:r>
            <a:r>
              <a:rPr lang="en-US" sz="1500" dirty="0" err="1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България</a:t>
            </a:r>
            <a:r>
              <a:rPr lang="en-US" sz="1500" dirty="0">
                <a:solidFill>
                  <a:srgbClr val="FFFFFF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.</a:t>
            </a:r>
            <a:endParaRPr lang="bg-BG" sz="1500" dirty="0">
              <a:solidFill>
                <a:srgbClr val="FFFFFF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bg-BG" sz="1600">
                <a:solidFill>
                  <a:srgbClr val="FFFFFF"/>
                </a:solidFill>
              </a:rPr>
              <a:t>Имаме желание за развитие на нашата платформа</a:t>
            </a:r>
            <a:endParaRPr lang="en-US" dirty="0"/>
          </a:p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3700" y="3971925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886325"/>
            <a:ext cx="5600700" cy="1600200"/>
          </a:xfrm>
          <a:custGeom>
            <a:avLst/>
            <a:gdLst/>
            <a:ahLst/>
            <a:cxnLst/>
            <a:rect l="l" t="t" r="r" b="b"/>
            <a:pathLst>
              <a:path w="5600700" h="1600200">
                <a:moveTo>
                  <a:pt x="114302" y="0"/>
                </a:moveTo>
                <a:lnTo>
                  <a:pt x="5486398" y="0"/>
                </a:lnTo>
                <a:cubicBezTo>
                  <a:pt x="5549483" y="0"/>
                  <a:pt x="5600700" y="51217"/>
                  <a:pt x="5600700" y="114302"/>
                </a:cubicBezTo>
                <a:lnTo>
                  <a:pt x="5600700" y="1485898"/>
                </a:lnTo>
                <a:cubicBezTo>
                  <a:pt x="5600700" y="1548983"/>
                  <a:pt x="5549483" y="1600200"/>
                  <a:pt x="54863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14650" y="5076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A6F7A"/>
          </a:solidFill>
          <a:ln/>
        </p:spPr>
      </p:sp>
      <p:sp>
        <p:nvSpPr>
          <p:cNvPr id="21" name="Shape 19"/>
          <p:cNvSpPr/>
          <p:nvPr/>
        </p:nvSpPr>
        <p:spPr>
          <a:xfrm>
            <a:off x="3052763" y="52292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3875" y="57245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bg-BG" sz="1500" b="1" dirty="0">
                <a:solidFill>
                  <a:srgbClr val="5A6F7A"/>
                </a:solidFill>
                <a:latin typeface="Oranienbaum" pitchFamily="34" charset="0"/>
              </a:rPr>
              <a:t>Разработване на система за защитен чат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400" y="606742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bg-BG" sz="1200" dirty="0">
                <a:solidFill>
                  <a:srgbClr val="3D3D3D">
                    <a:alpha val="70000"/>
                  </a:srgbClr>
                </a:solidFill>
              </a:rPr>
              <a:t>По-лесна комуникация между потребителите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3175" y="57245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606742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832" y="4257675"/>
            <a:ext cx="5852667" cy="24508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5760" y="2526030"/>
            <a:ext cx="56997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9600" dirty="0"/>
              <a:t>Демо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9301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A6F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90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6F7A">
                  <a:alpha val="95000"/>
                </a:srgbClr>
              </a:gs>
              <a:gs pos="50000">
                <a:srgbClr val="A98C7B">
                  <a:alpha val="90000"/>
                </a:srgbClr>
              </a:gs>
              <a:gs pos="100000">
                <a:srgbClr val="D4A574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2169795" y="1485900"/>
            <a:ext cx="7848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70816" y="3486150"/>
            <a:ext cx="4961649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48229" y="5024438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" y="3238500"/>
            <a:ext cx="12056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9600" b="1" dirty="0" err="1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Благодарим</a:t>
            </a:r>
            <a:r>
              <a:rPr lang="bg-BG" sz="9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за вниманието!</a:t>
            </a:r>
            <a:r>
              <a:rPr lang="en-US" sz="9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</a:t>
            </a:r>
            <a:endParaRPr lang="en-US" sz="9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769</Words>
  <Application>Microsoft Office PowerPoint</Application>
  <PresentationFormat>Широк екран</PresentationFormat>
  <Paragraphs>168</Paragraphs>
  <Slides>13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4" baseType="lpstr">
      <vt:lpstr>Custom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HelpNow (Подай ръка) - Дипломна работа</dc:title>
  <dc:subject>HelpNow (Подай ръка) - Дипломна работа</dc:subject>
  <dc:creator>Kimi</dc:creator>
  <cp:lastModifiedBy>Zdravko</cp:lastModifiedBy>
  <cp:revision>29</cp:revision>
  <dcterms:created xsi:type="dcterms:W3CDTF">2026-03-27T10:18:54Z</dcterms:created>
  <dcterms:modified xsi:type="dcterms:W3CDTF">2026-03-28T01:47:45Z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{"Label":"HelpNow (Подай ръка) - Дипломна работа","ContentProducer":"001191110108MACG2KBH8F10000","ProduceID":"19d2ec90-8af2-8e8f-8000-00006b7c5f71","ReservedCode1":"","ContentPropagator":"001191110108MACG2KBH8F20000","PropagateID":"19d2ec90-8af2-8e8f-800</vt:lpwstr>
  </property>
</Properties>
</file>